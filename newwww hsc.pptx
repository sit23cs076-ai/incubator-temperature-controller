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12192000"/>
  <p:embeddedFontLst>
    <p:embeddedFont>
      <p:font typeface="Public Sans" charset="0"/>
      <p:regular r:id="rId10"/>
      <p:bold r:id="rId11"/>
      <p:italic r:id="rId12"/>
      <p:boldItalic r:id="rId13"/>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font" Target="fonts/font4.fntdata"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font" Target="fonts/font3.fntdata" /><Relationship Id="rId17" Type="http://schemas.openxmlformats.org/officeDocument/2006/relationships/tableStyles" Target="tableStyles.xml" /><Relationship Id="rId2" Type="http://schemas.openxmlformats.org/officeDocument/2006/relationships/slide" Target="slides/slide1.xml" /><Relationship Id="rId16" Type="http://schemas.openxmlformats.org/officeDocument/2006/relationships/theme" Target="theme/theme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font" Target="fonts/font2.fntdata" /><Relationship Id="rId5" Type="http://schemas.openxmlformats.org/officeDocument/2006/relationships/slide" Target="slides/slide4.xml" /><Relationship Id="rId15" Type="http://schemas.openxmlformats.org/officeDocument/2006/relationships/viewProps" Target="viewProps.xml" /><Relationship Id="rId10" Type="http://schemas.openxmlformats.org/officeDocument/2006/relationships/font" Target="fonts/font1.fntdata" /><Relationship Id="rId4" Type="http://schemas.openxmlformats.org/officeDocument/2006/relationships/slide" Target="slides/slide3.xml" /><Relationship Id="rId9" Type="http://schemas.openxmlformats.org/officeDocument/2006/relationships/notesMaster" Target="notesMasters/notesMaster1.xml" /><Relationship Id="rId14" Type="http://schemas.openxmlformats.org/officeDocument/2006/relationships/presProps" Target="presProp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03842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DFDFC"/>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286000" y="390525"/>
            <a:ext cx="7683500" cy="438150"/>
          </a:xfrm>
          <a:prstGeom prst="rect">
            <a:avLst/>
          </a:prstGeom>
          <a:noFill/>
          <a:ln/>
        </p:spPr>
        <p:txBody>
          <a:bodyPr wrap="square" lIns="0" tIns="0" rIns="0" bIns="0" rtlCol="0" anchor="t"/>
          <a:lstStyle>
            <a:lvl1pPr marL="0" indent="0" algn="l">
              <a:lnSpc>
                <a:spcPct val="115000"/>
              </a:lnSpc>
              <a:buNone/>
              <a:defRPr lang="en-US" sz="3000" dirty="0">
                <a:solidFill>
                  <a:srgbClr val="1F497D"/>
                </a:solidFill>
                <a:latin typeface="Public Sans" pitchFamily="34" charset="0"/>
                <a:ea typeface="Public Sans" pitchFamily="34" charset="-122"/>
                <a:cs typeface="Public Sans" pitchFamily="34" charset="-120"/>
              </a:defRPr>
            </a:lvl1pPr>
          </a:lstStyle>
          <a:p>
            <a:pPr marL="0" indent="0" algn="l">
              <a:lnSpc>
                <a:spcPct val="115000"/>
              </a:lnSpc>
              <a:buNone/>
            </a:pPr>
            <a:endParaRPr lang="en-US" sz="3000"/>
          </a:p>
        </p:txBody>
      </p:sp>
      <p:sp>
        <p:nvSpPr>
          <p:cNvPr id="3" name="Text Placeholder 2"/>
          <p:cNvSpPr>
            <a:spLocks noGrp="1"/>
          </p:cNvSpPr>
          <p:nvPr>
            <p:ph type="body" idx="101"/>
          </p:nvPr>
        </p:nvSpPr>
        <p:spPr>
          <a:xfrm>
            <a:off x="2286000" y="1133475"/>
            <a:ext cx="9093200" cy="4911725"/>
          </a:xfrm>
          <a:prstGeom prst="rect">
            <a:avLst/>
          </a:prstGeom>
          <a:noFill/>
          <a:ln/>
        </p:spPr>
        <p:txBody>
          <a:bodyPr wrap="square" lIns="0" tIns="0" rIns="0" bIns="0" rtlCol="0" anchor="t"/>
          <a:lstStyle>
            <a:lvl1pPr marL="0" indent="0" algn="l">
              <a:lnSpc>
                <a:spcPct val="140000"/>
              </a:lnSpc>
              <a:buNone/>
              <a:defRPr lang="en-US" sz="1600" dirty="0">
                <a:solidFill>
                  <a:srgbClr val="1F497D"/>
                </a:solidFill>
                <a:latin typeface="Public Sans" pitchFamily="34" charset="0"/>
                <a:ea typeface="Public Sans" pitchFamily="34" charset="-122"/>
                <a:cs typeface="Public Sans" pitchFamily="34" charset="-120"/>
              </a:defRPr>
            </a:lvl1pPr>
          </a:lstStyle>
          <a:p>
            <a:pPr marL="0" indent="0" algn="l">
              <a:lnSpc>
                <a:spcPct val="140000"/>
              </a:lnSpc>
              <a:buNone/>
            </a:pPr>
            <a:endParaRPr lang="en-US" sz="160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DFDFC"/>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286000" y="390525"/>
            <a:ext cx="7683500" cy="438150"/>
          </a:xfrm>
          <a:prstGeom prst="rect">
            <a:avLst/>
          </a:prstGeom>
          <a:noFill/>
          <a:ln/>
        </p:spPr>
        <p:txBody>
          <a:bodyPr wrap="square" lIns="0" tIns="0" rIns="0" bIns="0" rtlCol="0" anchor="t"/>
          <a:lstStyle>
            <a:lvl1pPr marL="0" indent="0" algn="l">
              <a:lnSpc>
                <a:spcPct val="115000"/>
              </a:lnSpc>
              <a:buNone/>
              <a:defRPr lang="en-US" sz="3000" dirty="0">
                <a:solidFill>
                  <a:srgbClr val="1F497D"/>
                </a:solidFill>
                <a:latin typeface="Public Sans" pitchFamily="34" charset="0"/>
                <a:ea typeface="Public Sans" pitchFamily="34" charset="-122"/>
                <a:cs typeface="Public Sans" pitchFamily="34" charset="-120"/>
              </a:defRPr>
            </a:lvl1pPr>
          </a:lstStyle>
          <a:p>
            <a:pPr marL="0" indent="0" algn="l">
              <a:lnSpc>
                <a:spcPct val="115000"/>
              </a:lnSpc>
              <a:buNone/>
            </a:pPr>
            <a:endParaRPr lang="en-US" sz="3000"/>
          </a:p>
        </p:txBody>
      </p:sp>
      <p:sp>
        <p:nvSpPr>
          <p:cNvPr id="3" name="Text Placeholder 2"/>
          <p:cNvSpPr>
            <a:spLocks noGrp="1"/>
          </p:cNvSpPr>
          <p:nvPr>
            <p:ph type="body" idx="101"/>
          </p:nvPr>
        </p:nvSpPr>
        <p:spPr>
          <a:xfrm>
            <a:off x="2286000" y="1133475"/>
            <a:ext cx="9093200" cy="4911725"/>
          </a:xfrm>
          <a:prstGeom prst="rect">
            <a:avLst/>
          </a:prstGeom>
          <a:noFill/>
          <a:ln/>
        </p:spPr>
        <p:txBody>
          <a:bodyPr wrap="square" lIns="0" tIns="0" rIns="0" bIns="0" rtlCol="0" anchor="t"/>
          <a:lstStyle>
            <a:lvl1pPr marL="0" indent="0" algn="l">
              <a:lnSpc>
                <a:spcPct val="140000"/>
              </a:lnSpc>
              <a:buNone/>
              <a:defRPr lang="en-US" sz="1600" dirty="0">
                <a:solidFill>
                  <a:srgbClr val="1F497D"/>
                </a:solidFill>
                <a:latin typeface="Public Sans" pitchFamily="34" charset="0"/>
                <a:ea typeface="Public Sans" pitchFamily="34" charset="-122"/>
                <a:cs typeface="Public Sans" pitchFamily="34" charset="-120"/>
              </a:defRPr>
            </a:lvl1pPr>
          </a:lstStyle>
          <a:p>
            <a:pPr marL="0" indent="0" algn="l">
              <a:lnSpc>
                <a:spcPct val="140000"/>
              </a:lnSpc>
              <a:buNone/>
            </a:pPr>
            <a:endParaRPr lang="en-US" sz="160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1.xml" /><Relationship Id="rId1" Type="http://schemas.openxmlformats.org/officeDocument/2006/relationships/slideLayout" Target="../slideLayouts/slideLayout2.xml" /></Relationships>
</file>

<file path=ppt/slides/_rels/slide2.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2.xml" /><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3.xml" /><Relationship Id="rId1" Type="http://schemas.openxmlformats.org/officeDocument/2006/relationships/slideLayout" Target="../slideLayouts/slideLayout2.xml" /><Relationship Id="rId4" Type="http://schemas.openxmlformats.org/officeDocument/2006/relationships/image" Target="../media/image2.png" /></Relationships>
</file>

<file path=ppt/slides/_rels/slide4.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4.xml" /><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5.xml" /><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6.xml" /><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7.xml" /><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DFDFC"/>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2170748" y="390525"/>
            <a:ext cx="7914005" cy="463550"/>
          </a:xfrm>
          <a:prstGeom prst="rect">
            <a:avLst/>
          </a:prstGeom>
          <a:noFill/>
          <a:ln/>
        </p:spPr>
        <p:txBody>
          <a:bodyPr wrap="square" lIns="0" tIns="0" rIns="0" bIns="0" rtlCol="0" anchor="t">
            <a:normAutofit/>
          </a:bodyPr>
          <a:lstStyle/>
          <a:p>
            <a:pPr marL="0" indent="0" algn="ctr">
              <a:lnSpc>
                <a:spcPts val="3450"/>
              </a:lnSpc>
              <a:buNone/>
            </a:pPr>
            <a:r>
              <a:rPr lang="en-US" sz="3000" b="1" i="0">
                <a:solidFill>
                  <a:srgbClr val="1F497D"/>
                </a:solidFill>
                <a:latin typeface="Public Sans" pitchFamily="34" charset="0"/>
                <a:ea typeface="Public Sans" pitchFamily="34" charset="-122"/>
                <a:cs typeface="Public Sans" pitchFamily="34" charset="-120"/>
              </a:rPr>
              <a:t>Cover Page</a:t>
            </a:r>
            <a:endParaRPr lang="en-US" sz="3000"/>
          </a:p>
        </p:txBody>
      </p:sp>
      <p:pic>
        <p:nvPicPr>
          <p:cNvPr id="3" name="Image 0" descr="Hack for Social Cause logo"/>
          <p:cNvPicPr>
            <a:picLocks noChangeAspect="1"/>
          </p:cNvPicPr>
          <p:nvPr/>
        </p:nvPicPr>
        <p:blipFill>
          <a:blip r:embed="rId3"/>
          <a:srcRect l="-120" r="-120"/>
          <a:stretch/>
        </p:blipFill>
        <p:spPr>
          <a:xfrm>
            <a:off x="10121900" y="247650"/>
            <a:ext cx="1460500" cy="723900"/>
          </a:xfrm>
          <a:prstGeom prst="rect">
            <a:avLst/>
          </a:prstGeom>
        </p:spPr>
      </p:pic>
      <p:sp>
        <p:nvSpPr>
          <p:cNvPr id="4" name="Shape 1"/>
          <p:cNvSpPr/>
          <p:nvPr/>
        </p:nvSpPr>
        <p:spPr>
          <a:xfrm>
            <a:off x="1041400" y="1371600"/>
            <a:ext cx="0" cy="749300"/>
          </a:xfrm>
          <a:prstGeom prst="line">
            <a:avLst/>
          </a:prstGeom>
          <a:noFill/>
          <a:ln w="50800">
            <a:solidFill>
              <a:srgbClr val="0070C0"/>
            </a:solidFill>
            <a:prstDash val="solid"/>
          </a:ln>
        </p:spPr>
      </p:sp>
      <p:sp>
        <p:nvSpPr>
          <p:cNvPr id="5" name="Text 2"/>
          <p:cNvSpPr/>
          <p:nvPr/>
        </p:nvSpPr>
        <p:spPr>
          <a:xfrm>
            <a:off x="1244600" y="1371600"/>
            <a:ext cx="10647934" cy="345440"/>
          </a:xfrm>
          <a:prstGeom prst="rect">
            <a:avLst/>
          </a:prstGeom>
          <a:noFill/>
          <a:ln/>
        </p:spPr>
        <p:txBody>
          <a:bodyPr wrap="square" lIns="0" tIns="0" rIns="0" bIns="0" rtlCol="0" anchor="t">
            <a:normAutofit/>
          </a:bodyPr>
          <a:lstStyle/>
          <a:p>
            <a:pPr marL="0" indent="0" algn="l">
              <a:lnSpc>
                <a:spcPts val="2520"/>
              </a:lnSpc>
              <a:buNone/>
            </a:pPr>
            <a:r>
              <a:rPr lang="en-US" sz="1800" b="1">
                <a:solidFill>
                  <a:srgbClr val="0070C0"/>
                </a:solidFill>
                <a:latin typeface="Public Sans" pitchFamily="34" charset="0"/>
                <a:ea typeface="Public Sans" pitchFamily="34" charset="-122"/>
                <a:cs typeface="Public Sans" pitchFamily="34" charset="-120"/>
              </a:rPr>
              <a:t>Problem Statement/Concept Title</a:t>
            </a:r>
            <a:endParaRPr lang="en-US" sz="1800"/>
          </a:p>
        </p:txBody>
      </p:sp>
      <p:sp>
        <p:nvSpPr>
          <p:cNvPr id="6" name="Text 3"/>
          <p:cNvSpPr/>
          <p:nvPr/>
        </p:nvSpPr>
        <p:spPr>
          <a:xfrm>
            <a:off x="1244600" y="1729740"/>
            <a:ext cx="10647934" cy="416560"/>
          </a:xfrm>
          <a:prstGeom prst="rect">
            <a:avLst/>
          </a:prstGeom>
          <a:noFill/>
          <a:ln/>
        </p:spPr>
        <p:txBody>
          <a:bodyPr wrap="square" lIns="0" tIns="0" rIns="0" bIns="0" rtlCol="0" anchor="t">
            <a:normAutofit/>
          </a:bodyPr>
          <a:lstStyle/>
          <a:p>
            <a:pPr marL="0" indent="0" algn="l">
              <a:lnSpc>
                <a:spcPts val="3080"/>
              </a:lnSpc>
              <a:buNone/>
            </a:pPr>
            <a:r>
              <a:rPr lang="en-US" sz="2200" b="1">
                <a:solidFill>
                  <a:srgbClr val="1A1A1A"/>
                </a:solidFill>
                <a:latin typeface="Public Sans" pitchFamily="34" charset="0"/>
                <a:ea typeface="Public Sans" pitchFamily="34" charset="-122"/>
                <a:cs typeface="Public Sans" pitchFamily="34" charset="-120"/>
              </a:rPr>
              <a:t>IoT-Based Incubator Temperature Controller for Safe Neonatal Care</a:t>
            </a:r>
            <a:endParaRPr lang="en-US" sz="2200"/>
          </a:p>
        </p:txBody>
      </p:sp>
      <p:sp>
        <p:nvSpPr>
          <p:cNvPr id="7" name="Shape 4"/>
          <p:cNvSpPr/>
          <p:nvPr/>
        </p:nvSpPr>
        <p:spPr>
          <a:xfrm>
            <a:off x="1041400" y="2374900"/>
            <a:ext cx="0" cy="713740"/>
          </a:xfrm>
          <a:prstGeom prst="line">
            <a:avLst/>
          </a:prstGeom>
          <a:noFill/>
          <a:ln w="50800">
            <a:solidFill>
              <a:srgbClr val="0070C0"/>
            </a:solidFill>
            <a:prstDash val="solid"/>
          </a:ln>
        </p:spPr>
      </p:sp>
      <p:sp>
        <p:nvSpPr>
          <p:cNvPr id="8" name="Text 5"/>
          <p:cNvSpPr/>
          <p:nvPr/>
        </p:nvSpPr>
        <p:spPr>
          <a:xfrm>
            <a:off x="1244600" y="2374900"/>
            <a:ext cx="10647934" cy="345440"/>
          </a:xfrm>
          <a:prstGeom prst="rect">
            <a:avLst/>
          </a:prstGeom>
          <a:noFill/>
          <a:ln/>
        </p:spPr>
        <p:txBody>
          <a:bodyPr wrap="square" lIns="0" tIns="0" rIns="0" bIns="0" rtlCol="0" anchor="t">
            <a:normAutofit/>
          </a:bodyPr>
          <a:lstStyle/>
          <a:p>
            <a:pPr marL="0" indent="0" algn="l">
              <a:lnSpc>
                <a:spcPts val="2520"/>
              </a:lnSpc>
              <a:buNone/>
            </a:pPr>
            <a:r>
              <a:rPr lang="en-US" sz="1800" b="1">
                <a:solidFill>
                  <a:srgbClr val="0070C0"/>
                </a:solidFill>
                <a:latin typeface="Public Sans" pitchFamily="34" charset="0"/>
                <a:ea typeface="Public Sans" pitchFamily="34" charset="-122"/>
                <a:cs typeface="Public Sans" pitchFamily="34" charset="-120"/>
              </a:rPr>
              <a:t>Theme</a:t>
            </a:r>
            <a:endParaRPr lang="en-US" sz="1800"/>
          </a:p>
        </p:txBody>
      </p:sp>
      <p:sp>
        <p:nvSpPr>
          <p:cNvPr id="9" name="Text 6"/>
          <p:cNvSpPr/>
          <p:nvPr/>
        </p:nvSpPr>
        <p:spPr>
          <a:xfrm>
            <a:off x="1244600" y="2733040"/>
            <a:ext cx="10647934" cy="381000"/>
          </a:xfrm>
          <a:prstGeom prst="rect">
            <a:avLst/>
          </a:prstGeom>
          <a:noFill/>
          <a:ln/>
        </p:spPr>
        <p:txBody>
          <a:bodyPr wrap="square" lIns="0" tIns="0" rIns="0" bIns="0" rtlCol="0" anchor="t">
            <a:normAutofit/>
          </a:bodyPr>
          <a:lstStyle/>
          <a:p>
            <a:pPr marL="0" indent="0" algn="l">
              <a:lnSpc>
                <a:spcPts val="2800"/>
              </a:lnSpc>
              <a:buNone/>
            </a:pPr>
            <a:r>
              <a:rPr lang="en-US" sz="2000">
                <a:solidFill>
                  <a:srgbClr val="1A1A1A"/>
                </a:solidFill>
                <a:latin typeface="Public Sans" pitchFamily="34" charset="0"/>
                <a:ea typeface="Public Sans" pitchFamily="34" charset="-122"/>
                <a:cs typeface="Public Sans" pitchFamily="34" charset="-120"/>
              </a:rPr>
              <a:t>Healthcare – Smart, Affordable Neonatal Care</a:t>
            </a:r>
            <a:endParaRPr lang="en-US" sz="2000"/>
          </a:p>
        </p:txBody>
      </p:sp>
      <p:sp>
        <p:nvSpPr>
          <p:cNvPr id="10" name="Shape 7"/>
          <p:cNvSpPr/>
          <p:nvPr/>
        </p:nvSpPr>
        <p:spPr>
          <a:xfrm>
            <a:off x="1041400" y="3342640"/>
            <a:ext cx="0" cy="713740"/>
          </a:xfrm>
          <a:prstGeom prst="line">
            <a:avLst/>
          </a:prstGeom>
          <a:noFill/>
          <a:ln w="50800">
            <a:solidFill>
              <a:srgbClr val="0070C0"/>
            </a:solidFill>
            <a:prstDash val="solid"/>
          </a:ln>
        </p:spPr>
      </p:sp>
      <p:sp>
        <p:nvSpPr>
          <p:cNvPr id="11" name="Text 8"/>
          <p:cNvSpPr/>
          <p:nvPr/>
        </p:nvSpPr>
        <p:spPr>
          <a:xfrm>
            <a:off x="1244600" y="3342640"/>
            <a:ext cx="10647934" cy="345440"/>
          </a:xfrm>
          <a:prstGeom prst="rect">
            <a:avLst/>
          </a:prstGeom>
          <a:noFill/>
          <a:ln/>
        </p:spPr>
        <p:txBody>
          <a:bodyPr wrap="square" lIns="0" tIns="0" rIns="0" bIns="0" rtlCol="0" anchor="t">
            <a:normAutofit/>
          </a:bodyPr>
          <a:lstStyle/>
          <a:p>
            <a:pPr marL="0" indent="0" algn="l">
              <a:lnSpc>
                <a:spcPts val="2520"/>
              </a:lnSpc>
              <a:buNone/>
            </a:pPr>
            <a:r>
              <a:rPr lang="en-US" sz="1800" b="1">
                <a:solidFill>
                  <a:srgbClr val="0070C0"/>
                </a:solidFill>
                <a:latin typeface="Public Sans" pitchFamily="34" charset="0"/>
                <a:ea typeface="Public Sans" pitchFamily="34" charset="-122"/>
                <a:cs typeface="Public Sans" pitchFamily="34" charset="-120"/>
              </a:rPr>
              <a:t>Team Name (Registered on portal)</a:t>
            </a:r>
            <a:endParaRPr lang="en-US" sz="1800"/>
          </a:p>
        </p:txBody>
      </p:sp>
      <p:sp>
        <p:nvSpPr>
          <p:cNvPr id="12" name="Text 9"/>
          <p:cNvSpPr/>
          <p:nvPr/>
        </p:nvSpPr>
        <p:spPr>
          <a:xfrm>
            <a:off x="1244600" y="3700780"/>
            <a:ext cx="10647934" cy="381000"/>
          </a:xfrm>
          <a:prstGeom prst="rect">
            <a:avLst/>
          </a:prstGeom>
          <a:noFill/>
          <a:ln/>
        </p:spPr>
        <p:txBody>
          <a:bodyPr wrap="square" lIns="0" tIns="0" rIns="0" bIns="0" rtlCol="0" anchor="t">
            <a:normAutofit/>
          </a:bodyPr>
          <a:lstStyle/>
          <a:p>
            <a:pPr marL="0" indent="0" algn="l">
              <a:lnSpc>
                <a:spcPts val="2800"/>
              </a:lnSpc>
              <a:buNone/>
            </a:pPr>
            <a:r>
              <a:rPr lang="en-US" sz="2000">
                <a:solidFill>
                  <a:srgbClr val="B45309"/>
                </a:solidFill>
                <a:latin typeface="Public Sans" pitchFamily="34" charset="0"/>
              </a:rPr>
              <a:t>Incubator Temperature Controller</a:t>
            </a:r>
            <a:endParaRPr lang="en-US" sz="2000"/>
          </a:p>
        </p:txBody>
      </p:sp>
      <p:sp>
        <p:nvSpPr>
          <p:cNvPr id="13" name="Shape 10"/>
          <p:cNvSpPr/>
          <p:nvPr/>
        </p:nvSpPr>
        <p:spPr>
          <a:xfrm>
            <a:off x="1041400" y="4310380"/>
            <a:ext cx="0" cy="713740"/>
          </a:xfrm>
          <a:prstGeom prst="line">
            <a:avLst/>
          </a:prstGeom>
          <a:noFill/>
          <a:ln w="50800">
            <a:solidFill>
              <a:srgbClr val="0070C0"/>
            </a:solidFill>
            <a:prstDash val="solid"/>
          </a:ln>
        </p:spPr>
      </p:sp>
      <p:sp>
        <p:nvSpPr>
          <p:cNvPr id="14" name="Text 11"/>
          <p:cNvSpPr/>
          <p:nvPr/>
        </p:nvSpPr>
        <p:spPr>
          <a:xfrm>
            <a:off x="1244600" y="4310380"/>
            <a:ext cx="10647934" cy="345440"/>
          </a:xfrm>
          <a:prstGeom prst="rect">
            <a:avLst/>
          </a:prstGeom>
          <a:noFill/>
          <a:ln/>
        </p:spPr>
        <p:txBody>
          <a:bodyPr wrap="square" lIns="0" tIns="0" rIns="0" bIns="0" rtlCol="0" anchor="t">
            <a:normAutofit/>
          </a:bodyPr>
          <a:lstStyle/>
          <a:p>
            <a:pPr marL="0" indent="0" algn="l">
              <a:lnSpc>
                <a:spcPts val="2520"/>
              </a:lnSpc>
              <a:buNone/>
            </a:pPr>
            <a:r>
              <a:rPr lang="en-US" sz="1800" b="1">
                <a:solidFill>
                  <a:srgbClr val="0070C0"/>
                </a:solidFill>
                <a:latin typeface="Public Sans" pitchFamily="34" charset="0"/>
                <a:ea typeface="Public Sans" pitchFamily="34" charset="-122"/>
                <a:cs typeface="Public Sans" pitchFamily="34" charset="-120"/>
              </a:rPr>
              <a:t>Team ID (Registered on portal)</a:t>
            </a:r>
            <a:endParaRPr lang="en-US" sz="1800"/>
          </a:p>
        </p:txBody>
      </p:sp>
      <p:sp>
        <p:nvSpPr>
          <p:cNvPr id="15" name="Text 12"/>
          <p:cNvSpPr/>
          <p:nvPr/>
        </p:nvSpPr>
        <p:spPr>
          <a:xfrm>
            <a:off x="1244600" y="4668520"/>
            <a:ext cx="10647934" cy="381000"/>
          </a:xfrm>
          <a:prstGeom prst="rect">
            <a:avLst/>
          </a:prstGeom>
          <a:noFill/>
          <a:ln/>
        </p:spPr>
        <p:txBody>
          <a:bodyPr wrap="square" lIns="0" tIns="0" rIns="0" bIns="0" rtlCol="0" anchor="t">
            <a:normAutofit/>
          </a:bodyPr>
          <a:lstStyle/>
          <a:p>
            <a:pPr marL="0" indent="0" algn="l">
              <a:lnSpc>
                <a:spcPts val="2800"/>
              </a:lnSpc>
              <a:buNone/>
            </a:pPr>
            <a:r>
              <a:rPr lang="en-US" sz="2000">
                <a:solidFill>
                  <a:srgbClr val="B45309"/>
                </a:solidFill>
                <a:latin typeface="Public Sans" pitchFamily="34" charset="0"/>
                <a:ea typeface="Public Sans" pitchFamily="34" charset="-122"/>
                <a:cs typeface="Public Sans" pitchFamily="34" charset="-120"/>
              </a:rPr>
              <a:t>[Enter team ID]</a:t>
            </a:r>
            <a:endParaRPr lang="en-US" sz="2000"/>
          </a:p>
        </p:txBody>
      </p:sp>
      <p:sp>
        <p:nvSpPr>
          <p:cNvPr id="16" name="Shape 13"/>
          <p:cNvSpPr/>
          <p:nvPr/>
        </p:nvSpPr>
        <p:spPr>
          <a:xfrm>
            <a:off x="1041400" y="5278120"/>
            <a:ext cx="0" cy="713740"/>
          </a:xfrm>
          <a:prstGeom prst="line">
            <a:avLst/>
          </a:prstGeom>
          <a:noFill/>
          <a:ln w="50800">
            <a:solidFill>
              <a:srgbClr val="0070C0"/>
            </a:solidFill>
            <a:prstDash val="solid"/>
          </a:ln>
        </p:spPr>
      </p:sp>
      <p:sp>
        <p:nvSpPr>
          <p:cNvPr id="17" name="Text 14"/>
          <p:cNvSpPr/>
          <p:nvPr/>
        </p:nvSpPr>
        <p:spPr>
          <a:xfrm>
            <a:off x="1244600" y="5278120"/>
            <a:ext cx="10647934" cy="345440"/>
          </a:xfrm>
          <a:prstGeom prst="rect">
            <a:avLst/>
          </a:prstGeom>
          <a:noFill/>
          <a:ln/>
        </p:spPr>
        <p:txBody>
          <a:bodyPr wrap="square" lIns="0" tIns="0" rIns="0" bIns="0" rtlCol="0" anchor="t">
            <a:normAutofit/>
          </a:bodyPr>
          <a:lstStyle/>
          <a:p>
            <a:pPr marL="0" indent="0" algn="l">
              <a:lnSpc>
                <a:spcPts val="2520"/>
              </a:lnSpc>
              <a:buNone/>
            </a:pPr>
            <a:r>
              <a:rPr lang="en-US" sz="1800" b="1">
                <a:solidFill>
                  <a:srgbClr val="0070C0"/>
                </a:solidFill>
                <a:latin typeface="Public Sans" pitchFamily="34" charset="0"/>
                <a:ea typeface="Public Sans" pitchFamily="34" charset="-122"/>
                <a:cs typeface="Public Sans" pitchFamily="34" charset="-120"/>
              </a:rPr>
              <a:t>State/UT</a:t>
            </a:r>
            <a:endParaRPr lang="en-US" sz="1800"/>
          </a:p>
        </p:txBody>
      </p:sp>
      <p:sp>
        <p:nvSpPr>
          <p:cNvPr id="18" name="Text 15"/>
          <p:cNvSpPr/>
          <p:nvPr/>
        </p:nvSpPr>
        <p:spPr>
          <a:xfrm>
            <a:off x="1244600" y="5636260"/>
            <a:ext cx="10647934" cy="381000"/>
          </a:xfrm>
          <a:prstGeom prst="rect">
            <a:avLst/>
          </a:prstGeom>
          <a:noFill/>
          <a:ln/>
        </p:spPr>
        <p:txBody>
          <a:bodyPr wrap="square" lIns="0" tIns="0" rIns="0" bIns="0" rtlCol="0" anchor="t">
            <a:normAutofit/>
          </a:bodyPr>
          <a:lstStyle/>
          <a:p>
            <a:pPr marL="0" indent="0" algn="l">
              <a:lnSpc>
                <a:spcPts val="2800"/>
              </a:lnSpc>
              <a:buNone/>
            </a:pPr>
            <a:r>
              <a:rPr lang="en-US" sz="2000">
                <a:solidFill>
                  <a:srgbClr val="B45309"/>
                </a:solidFill>
                <a:latin typeface="Public Sans" pitchFamily="34" charset="0"/>
              </a:rPr>
              <a:t>Tamil Nadu</a:t>
            </a:r>
            <a:endParaRPr lang="en-US" sz="2000"/>
          </a:p>
        </p:txBody>
      </p:sp>
      <p:sp>
        <p:nvSpPr>
          <p:cNvPr id="19" name="Text 16"/>
          <p:cNvSpPr/>
          <p:nvPr/>
        </p:nvSpPr>
        <p:spPr>
          <a:xfrm>
            <a:off x="2171700" y="6339840"/>
            <a:ext cx="7848600" cy="238760"/>
          </a:xfrm>
          <a:prstGeom prst="rect">
            <a:avLst/>
          </a:prstGeom>
          <a:noFill/>
          <a:ln/>
        </p:spPr>
        <p:txBody>
          <a:bodyPr wrap="square" lIns="0" tIns="0" rIns="0" bIns="0" rtlCol="0" anchor="t">
            <a:normAutofit/>
          </a:bodyPr>
          <a:lstStyle/>
          <a:p>
            <a:pPr marL="0" indent="0" algn="ctr">
              <a:lnSpc>
                <a:spcPts val="1680"/>
              </a:lnSpc>
              <a:buNone/>
            </a:pPr>
            <a:r>
              <a:rPr lang="en-US" sz="1200">
                <a:solidFill>
                  <a:srgbClr val="1F3864"/>
                </a:solidFill>
                <a:latin typeface="Public Sans" pitchFamily="34" charset="0"/>
                <a:ea typeface="Public Sans" pitchFamily="34" charset="-122"/>
                <a:cs typeface="Public Sans" pitchFamily="34" charset="-120"/>
              </a:rPr>
              <a:t>@HSC submission- Template</a:t>
            </a:r>
            <a:endParaRPr lang="en-US" sz="1200"/>
          </a:p>
        </p:txBody>
      </p:sp>
      <p:sp>
        <p:nvSpPr>
          <p:cNvPr id="20" name="Text 17"/>
          <p:cNvSpPr/>
          <p:nvPr/>
        </p:nvSpPr>
        <p:spPr>
          <a:xfrm>
            <a:off x="11150600" y="6339840"/>
            <a:ext cx="431800" cy="238760"/>
          </a:xfrm>
          <a:prstGeom prst="rect">
            <a:avLst/>
          </a:prstGeom>
          <a:noFill/>
          <a:ln/>
        </p:spPr>
        <p:txBody>
          <a:bodyPr wrap="square" lIns="0" tIns="0" rIns="0" bIns="0" rtlCol="0" anchor="t">
            <a:normAutofit/>
          </a:bodyPr>
          <a:lstStyle/>
          <a:p>
            <a:pPr marL="0" indent="0" algn="r">
              <a:lnSpc>
                <a:spcPts val="1680"/>
              </a:lnSpc>
              <a:buNone/>
            </a:pPr>
            <a:r>
              <a:rPr lang="en-US" sz="1200">
                <a:solidFill>
                  <a:srgbClr val="6B7280"/>
                </a:solidFill>
                <a:latin typeface="Public Sans" pitchFamily="34" charset="0"/>
                <a:ea typeface="Public Sans" pitchFamily="34" charset="-122"/>
                <a:cs typeface="Public Sans" pitchFamily="34" charset="-120"/>
              </a:rPr>
              <a:t>1</a:t>
            </a:r>
            <a:endParaRPr lang="en-US" sz="12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DFDFC"/>
        </a:solidFill>
        <a:effectLst/>
      </p:bgPr>
    </p:bg>
    <p:spTree>
      <p:nvGrpSpPr>
        <p:cNvPr id="1" name=""/>
        <p:cNvGrpSpPr/>
        <p:nvPr/>
      </p:nvGrpSpPr>
      <p:grpSpPr>
        <a:xfrm>
          <a:off x="0" y="0"/>
          <a:ext cx="0" cy="0"/>
          <a:chOff x="0" y="0"/>
          <a:chExt cx="0" cy="0"/>
        </a:xfrm>
      </p:grpSpPr>
      <p:sp>
        <p:nvSpPr>
          <p:cNvPr id="2" name="Text 0"/>
          <p:cNvSpPr/>
          <p:nvPr/>
        </p:nvSpPr>
        <p:spPr>
          <a:xfrm>
            <a:off x="615950" y="336550"/>
            <a:ext cx="1511300" cy="546100"/>
          </a:xfrm>
          <a:prstGeom prst="roundRect">
            <a:avLst>
              <a:gd name="adj" fmla="val 50000"/>
            </a:avLst>
          </a:prstGeom>
          <a:gradFill rotWithShape="1">
            <a:gsLst>
              <a:gs pos="0">
                <a:srgbClr val="FFE3C7"/>
              </a:gs>
              <a:gs pos="100000">
                <a:srgbClr val="F7B27A"/>
              </a:gs>
            </a:gsLst>
            <a:lin ang="5400000" scaled="0"/>
          </a:gradFill>
          <a:ln w="12700">
            <a:solidFill>
              <a:srgbClr val="E8964F"/>
            </a:solidFill>
            <a:prstDash val="solid"/>
          </a:ln>
        </p:spPr>
        <p:txBody>
          <a:bodyPr wrap="square" lIns="0" tIns="0" rIns="0" bIns="0" rtlCol="0" anchor="ctr">
            <a:normAutofit fontScale="40000" lnSpcReduction="20000"/>
          </a:bodyPr>
          <a:lstStyle/>
          <a:p>
            <a:pPr marL="0" indent="0" algn="ctr">
              <a:lnSpc>
                <a:spcPts val="1960"/>
              </a:lnSpc>
              <a:buNone/>
            </a:pPr>
            <a:r>
              <a:rPr lang="en-US" sz="1400">
                <a:solidFill>
                  <a:srgbClr val="1A1A1A"/>
                </a:solidFill>
                <a:latin typeface="Public Sans" pitchFamily="34" charset="0"/>
              </a:rPr>
              <a:t>Incubator Temperature controller</a:t>
            </a:r>
            <a:endParaRPr lang="en-US" sz="1400"/>
          </a:p>
        </p:txBody>
      </p:sp>
      <p:sp>
        <p:nvSpPr>
          <p:cNvPr id="3" name="Text 1"/>
          <p:cNvSpPr>
            <a:spLocks noGrp="1"/>
          </p:cNvSpPr>
          <p:nvPr>
            <p:ph type="title"/>
          </p:nvPr>
        </p:nvSpPr>
        <p:spPr>
          <a:xfrm>
            <a:off x="2170748" y="390525"/>
            <a:ext cx="7914005" cy="463550"/>
          </a:xfrm>
          <a:prstGeom prst="rect">
            <a:avLst/>
          </a:prstGeom>
          <a:noFill/>
          <a:ln/>
        </p:spPr>
        <p:txBody>
          <a:bodyPr wrap="square" lIns="0" tIns="0" rIns="0" bIns="0" rtlCol="0" anchor="t">
            <a:normAutofit/>
          </a:bodyPr>
          <a:lstStyle/>
          <a:p>
            <a:pPr marL="0" indent="0" algn="ctr">
              <a:lnSpc>
                <a:spcPts val="3450"/>
              </a:lnSpc>
              <a:buNone/>
            </a:pPr>
            <a:r>
              <a:rPr lang="en-US" sz="3000" b="1" i="0">
                <a:solidFill>
                  <a:srgbClr val="1F497D"/>
                </a:solidFill>
                <a:latin typeface="Public Sans" pitchFamily="34" charset="0"/>
                <a:ea typeface="Public Sans" pitchFamily="34" charset="-122"/>
                <a:cs typeface="Public Sans" pitchFamily="34" charset="-120"/>
              </a:rPr>
              <a:t>Problem – Proposed Solution</a:t>
            </a:r>
            <a:endParaRPr lang="en-US" sz="3000"/>
          </a:p>
        </p:txBody>
      </p:sp>
      <p:pic>
        <p:nvPicPr>
          <p:cNvPr id="4" name="Image 0" descr="Hack for Social Cause logo"/>
          <p:cNvPicPr>
            <a:picLocks noChangeAspect="1"/>
          </p:cNvPicPr>
          <p:nvPr/>
        </p:nvPicPr>
        <p:blipFill>
          <a:blip r:embed="rId3"/>
          <a:srcRect l="-120" r="-120"/>
          <a:stretch/>
        </p:blipFill>
        <p:spPr>
          <a:xfrm>
            <a:off x="10121900" y="247650"/>
            <a:ext cx="1460500" cy="723900"/>
          </a:xfrm>
          <a:prstGeom prst="rect">
            <a:avLst/>
          </a:prstGeom>
        </p:spPr>
      </p:pic>
      <p:sp>
        <p:nvSpPr>
          <p:cNvPr id="5" name="Shape 2"/>
          <p:cNvSpPr/>
          <p:nvPr/>
        </p:nvSpPr>
        <p:spPr>
          <a:xfrm>
            <a:off x="612775" y="1120775"/>
            <a:ext cx="5403850" cy="1379855"/>
          </a:xfrm>
          <a:prstGeom prst="roundRect">
            <a:avLst>
              <a:gd name="adj" fmla="val 7133"/>
            </a:avLst>
          </a:prstGeom>
          <a:solidFill>
            <a:srgbClr val="FFF4E8"/>
          </a:solidFill>
          <a:ln w="6350">
            <a:solidFill>
              <a:srgbClr val="F3C99C"/>
            </a:solidFill>
            <a:prstDash val="solid"/>
          </a:ln>
        </p:spPr>
      </p:sp>
      <p:sp>
        <p:nvSpPr>
          <p:cNvPr id="6" name="Text 3"/>
          <p:cNvSpPr/>
          <p:nvPr/>
        </p:nvSpPr>
        <p:spPr>
          <a:xfrm>
            <a:off x="817880" y="1275080"/>
            <a:ext cx="5143449" cy="274320"/>
          </a:xfrm>
          <a:prstGeom prst="rect">
            <a:avLst/>
          </a:prstGeom>
          <a:noFill/>
          <a:ln/>
        </p:spPr>
        <p:txBody>
          <a:bodyPr wrap="square" lIns="0" tIns="0" rIns="0" bIns="0" rtlCol="0" anchor="t">
            <a:normAutofit/>
          </a:bodyPr>
          <a:lstStyle/>
          <a:p>
            <a:pPr marL="0" indent="0" algn="l">
              <a:lnSpc>
                <a:spcPts val="1960"/>
              </a:lnSpc>
              <a:buNone/>
            </a:pPr>
            <a:r>
              <a:rPr lang="en-US" sz="1400" b="1">
                <a:solidFill>
                  <a:srgbClr val="B45309"/>
                </a:solidFill>
                <a:latin typeface="Public Sans" pitchFamily="34" charset="0"/>
                <a:ea typeface="Public Sans" pitchFamily="34" charset="-122"/>
                <a:cs typeface="Public Sans" pitchFamily="34" charset="-120"/>
              </a:rPr>
              <a:t>Core problem</a:t>
            </a:r>
            <a:endParaRPr lang="en-US" sz="1400"/>
          </a:p>
        </p:txBody>
      </p:sp>
      <p:sp>
        <p:nvSpPr>
          <p:cNvPr id="7" name="Text 4"/>
          <p:cNvSpPr/>
          <p:nvPr/>
        </p:nvSpPr>
        <p:spPr>
          <a:xfrm>
            <a:off x="817880" y="1574800"/>
            <a:ext cx="5143449" cy="796925"/>
          </a:xfrm>
          <a:prstGeom prst="rect">
            <a:avLst/>
          </a:prstGeom>
          <a:noFill/>
          <a:ln/>
        </p:spPr>
        <p:txBody>
          <a:bodyPr wrap="square" lIns="0" tIns="0" rIns="0" bIns="0" rtlCol="0" anchor="t">
            <a:normAutofit/>
          </a:bodyPr>
          <a:lstStyle/>
          <a:p>
            <a:pPr marL="0" indent="0" algn="l">
              <a:lnSpc>
                <a:spcPts val="2025"/>
              </a:lnSpc>
              <a:buNone/>
            </a:pPr>
            <a:r>
              <a:rPr lang="en-US" sz="1500">
                <a:solidFill>
                  <a:srgbClr val="1A1A1A"/>
                </a:solidFill>
                <a:latin typeface="Public Sans" pitchFamily="34" charset="0"/>
                <a:ea typeface="Public Sans" pitchFamily="34" charset="-122"/>
                <a:cs typeface="Public Sans" pitchFamily="34" charset="-120"/>
              </a:rPr>
              <a:t>Neonatal incubators lack stability, real-time monitoring and affordability, putting premature babies in low-resource hospitals at risk.</a:t>
            </a:r>
            <a:endParaRPr lang="en-US" sz="1500"/>
          </a:p>
        </p:txBody>
      </p:sp>
      <p:sp>
        <p:nvSpPr>
          <p:cNvPr id="8" name="Shape 5"/>
          <p:cNvSpPr/>
          <p:nvPr/>
        </p:nvSpPr>
        <p:spPr>
          <a:xfrm>
            <a:off x="6175375" y="1120775"/>
            <a:ext cx="5403850" cy="1379855"/>
          </a:xfrm>
          <a:prstGeom prst="roundRect">
            <a:avLst>
              <a:gd name="adj" fmla="val 7133"/>
            </a:avLst>
          </a:prstGeom>
          <a:solidFill>
            <a:srgbClr val="FFF4E8"/>
          </a:solidFill>
          <a:ln w="6350">
            <a:solidFill>
              <a:srgbClr val="F3C99C"/>
            </a:solidFill>
            <a:prstDash val="solid"/>
          </a:ln>
        </p:spPr>
      </p:sp>
      <p:sp>
        <p:nvSpPr>
          <p:cNvPr id="9" name="Text 6"/>
          <p:cNvSpPr/>
          <p:nvPr/>
        </p:nvSpPr>
        <p:spPr>
          <a:xfrm>
            <a:off x="6380480" y="1275080"/>
            <a:ext cx="5143449" cy="274320"/>
          </a:xfrm>
          <a:prstGeom prst="rect">
            <a:avLst/>
          </a:prstGeom>
          <a:noFill/>
          <a:ln/>
        </p:spPr>
        <p:txBody>
          <a:bodyPr wrap="square" lIns="0" tIns="0" rIns="0" bIns="0" rtlCol="0" anchor="t">
            <a:normAutofit/>
          </a:bodyPr>
          <a:lstStyle/>
          <a:p>
            <a:pPr marL="0" indent="0" algn="l">
              <a:lnSpc>
                <a:spcPts val="1960"/>
              </a:lnSpc>
              <a:buNone/>
            </a:pPr>
            <a:r>
              <a:rPr lang="en-US" sz="1400" b="1">
                <a:solidFill>
                  <a:srgbClr val="B45309"/>
                </a:solidFill>
                <a:latin typeface="Public Sans" pitchFamily="34" charset="0"/>
                <a:ea typeface="Public Sans" pitchFamily="34" charset="-122"/>
                <a:cs typeface="Public Sans" pitchFamily="34" charset="-120"/>
              </a:rPr>
              <a:t>Impact</a:t>
            </a:r>
            <a:endParaRPr lang="en-US" sz="1400"/>
          </a:p>
        </p:txBody>
      </p:sp>
      <p:sp>
        <p:nvSpPr>
          <p:cNvPr id="10" name="Text 7"/>
          <p:cNvSpPr/>
          <p:nvPr/>
        </p:nvSpPr>
        <p:spPr>
          <a:xfrm>
            <a:off x="6478524" y="1574800"/>
            <a:ext cx="5037785" cy="694055"/>
          </a:xfrm>
          <a:prstGeom prst="rect">
            <a:avLst/>
          </a:prstGeom>
          <a:noFill/>
          <a:ln/>
        </p:spPr>
        <p:txBody>
          <a:bodyPr wrap="square" lIns="0" tIns="0" rIns="0" bIns="0" rtlCol="0" anchor="t">
            <a:normAutofit/>
          </a:bodyPr>
          <a:lstStyle/>
          <a:p>
            <a:pPr marL="155956" indent="-155956" algn="l">
              <a:lnSpc>
                <a:spcPts val="1755"/>
              </a:lnSpc>
              <a:buSzPct val="100000"/>
              <a:buChar char="•"/>
            </a:pPr>
            <a:r>
              <a:rPr lang="en-US" sz="1300">
                <a:solidFill>
                  <a:srgbClr val="1A1A1A"/>
                </a:solidFill>
                <a:latin typeface="Public Sans" pitchFamily="34" charset="0"/>
                <a:ea typeface="Public Sans" pitchFamily="34" charset="-122"/>
                <a:cs typeface="Public Sans" pitchFamily="34" charset="-120"/>
              </a:rPr>
              <a:t>Infants face health risks; parents endure stress</a:t>
            </a:r>
            <a:endParaRPr lang="en-US" sz="1300"/>
          </a:p>
          <a:p>
            <a:pPr marL="155956" indent="-155956" algn="l">
              <a:lnSpc>
                <a:spcPts val="1755"/>
              </a:lnSpc>
              <a:buSzPct val="100000"/>
              <a:buChar char="•"/>
            </a:pPr>
            <a:r>
              <a:rPr lang="en-US" sz="1300">
                <a:solidFill>
                  <a:srgbClr val="1A1A1A"/>
                </a:solidFill>
                <a:latin typeface="Public Sans" pitchFamily="34" charset="0"/>
                <a:ea typeface="Public Sans" pitchFamily="34" charset="-122"/>
                <a:cs typeface="Public Sans" pitchFamily="34" charset="-120"/>
              </a:rPr>
              <a:t>Nurses struggle with manual monitoring</a:t>
            </a:r>
            <a:endParaRPr lang="en-US" sz="1300"/>
          </a:p>
          <a:p>
            <a:pPr marL="155956" indent="-155956" algn="l">
              <a:lnSpc>
                <a:spcPts val="1755"/>
              </a:lnSpc>
              <a:buSzPct val="100000"/>
              <a:buChar char="•"/>
            </a:pPr>
            <a:r>
              <a:rPr lang="en-US" sz="1300">
                <a:solidFill>
                  <a:srgbClr val="1A1A1A"/>
                </a:solidFill>
                <a:latin typeface="Public Sans" pitchFamily="34" charset="0"/>
                <a:ea typeface="Public Sans" pitchFamily="34" charset="-122"/>
                <a:cs typeface="Public Sans" pitchFamily="34" charset="-120"/>
              </a:rPr>
              <a:t>Hospitals lack affordable, advanced incubators</a:t>
            </a:r>
            <a:endParaRPr lang="en-US" sz="1300"/>
          </a:p>
        </p:txBody>
      </p:sp>
      <p:sp>
        <p:nvSpPr>
          <p:cNvPr id="11" name="Shape 8"/>
          <p:cNvSpPr/>
          <p:nvPr/>
        </p:nvSpPr>
        <p:spPr>
          <a:xfrm>
            <a:off x="612775" y="2659380"/>
            <a:ext cx="3549650" cy="3484245"/>
          </a:xfrm>
          <a:prstGeom prst="roundRect">
            <a:avLst>
              <a:gd name="adj" fmla="val 2825"/>
            </a:avLst>
          </a:prstGeom>
          <a:solidFill>
            <a:srgbClr val="F2F6FB"/>
          </a:solidFill>
          <a:ln w="6350">
            <a:solidFill>
              <a:srgbClr val="D6E2F0"/>
            </a:solidFill>
            <a:prstDash val="solid"/>
          </a:ln>
        </p:spPr>
      </p:sp>
      <p:sp>
        <p:nvSpPr>
          <p:cNvPr id="12" name="Text 9"/>
          <p:cNvSpPr/>
          <p:nvPr/>
        </p:nvSpPr>
        <p:spPr>
          <a:xfrm>
            <a:off x="817880" y="2839085"/>
            <a:ext cx="3233623" cy="513080"/>
          </a:xfrm>
          <a:prstGeom prst="rect">
            <a:avLst/>
          </a:prstGeom>
          <a:noFill/>
          <a:ln/>
        </p:spPr>
        <p:txBody>
          <a:bodyPr wrap="square" lIns="0" tIns="0" rIns="0" bIns="0" rtlCol="0" anchor="t">
            <a:normAutofit/>
          </a:bodyPr>
          <a:lstStyle/>
          <a:p>
            <a:pPr marL="0" indent="0" algn="l">
              <a:lnSpc>
                <a:spcPts val="1920"/>
              </a:lnSpc>
              <a:buNone/>
            </a:pPr>
            <a:r>
              <a:rPr lang="en-US" sz="1600" b="1">
                <a:solidFill>
                  <a:srgbClr val="0070C0"/>
                </a:solidFill>
                <a:latin typeface="Public Sans" pitchFamily="34" charset="0"/>
                <a:ea typeface="Public Sans" pitchFamily="34" charset="-122"/>
                <a:cs typeface="Public Sans" pitchFamily="34" charset="-120"/>
              </a:rPr>
              <a:t>Detailed explanation of the proposed solution</a:t>
            </a:r>
            <a:endParaRPr lang="en-US" sz="1600"/>
          </a:p>
        </p:txBody>
      </p:sp>
      <p:sp>
        <p:nvSpPr>
          <p:cNvPr id="13" name="Text 10"/>
          <p:cNvSpPr/>
          <p:nvPr/>
        </p:nvSpPr>
        <p:spPr>
          <a:xfrm>
            <a:off x="915924" y="3415665"/>
            <a:ext cx="3127959" cy="2105660"/>
          </a:xfrm>
          <a:prstGeom prst="rect">
            <a:avLst/>
          </a:prstGeom>
          <a:noFill/>
          <a:ln/>
        </p:spPr>
        <p:txBody>
          <a:bodyPr wrap="square" lIns="0" tIns="0" rIns="0" bIns="0" rtlCol="0" anchor="t">
            <a:normAutofit/>
          </a:bodyPr>
          <a:lstStyle/>
          <a:p>
            <a:pPr marL="155956" indent="-155956" algn="l">
              <a:lnSpc>
                <a:spcPts val="1820"/>
              </a:lnSpc>
              <a:buSzPct val="100000"/>
              <a:buChar char="•"/>
            </a:pPr>
            <a:r>
              <a:rPr lang="en-US" sz="1300">
                <a:solidFill>
                  <a:srgbClr val="1A1A1A"/>
                </a:solidFill>
                <a:latin typeface="Public Sans" pitchFamily="34" charset="0"/>
                <a:ea typeface="Public Sans" pitchFamily="34" charset="-122"/>
                <a:cs typeface="Public Sans" pitchFamily="34" charset="-120"/>
              </a:rPr>
              <a:t>IoT controller with temperature &amp; humidity sensors</a:t>
            </a:r>
            <a:endParaRPr lang="en-US" sz="1300"/>
          </a:p>
          <a:p>
            <a:pPr marL="155956" indent="-155956" algn="l">
              <a:lnSpc>
                <a:spcPts val="1820"/>
              </a:lnSpc>
              <a:buSzPct val="100000"/>
              <a:buChar char="•"/>
            </a:pPr>
            <a:r>
              <a:rPr lang="en-US" sz="1300">
                <a:solidFill>
                  <a:srgbClr val="1A1A1A"/>
                </a:solidFill>
                <a:latin typeface="Public Sans" pitchFamily="34" charset="0"/>
                <a:ea typeface="Public Sans" pitchFamily="34" charset="-122"/>
                <a:cs typeface="Public Sans" pitchFamily="34" charset="-120"/>
              </a:rPr>
              <a:t>Accelerometer detects abnormal movement</a:t>
            </a:r>
            <a:endParaRPr lang="en-US" sz="1300"/>
          </a:p>
          <a:p>
            <a:pPr marL="155956" indent="-155956" algn="l">
              <a:lnSpc>
                <a:spcPts val="1820"/>
              </a:lnSpc>
              <a:buSzPct val="100000"/>
              <a:buChar char="•"/>
            </a:pPr>
            <a:r>
              <a:rPr lang="en-US" sz="1300">
                <a:solidFill>
                  <a:srgbClr val="1A1A1A"/>
                </a:solidFill>
                <a:latin typeface="Public Sans" pitchFamily="34" charset="0"/>
                <a:ea typeface="Public Sans" pitchFamily="34" charset="-122"/>
                <a:cs typeface="Public Sans" pitchFamily="34" charset="-120"/>
              </a:rPr>
              <a:t>PID control auto-regulates conditions</a:t>
            </a:r>
            <a:endParaRPr lang="en-US" sz="1300"/>
          </a:p>
          <a:p>
            <a:pPr marL="155956" indent="-155956" algn="l">
              <a:lnSpc>
                <a:spcPts val="1820"/>
              </a:lnSpc>
              <a:buSzPct val="100000"/>
              <a:buChar char="•"/>
            </a:pPr>
            <a:r>
              <a:rPr lang="en-US" sz="1300">
                <a:solidFill>
                  <a:srgbClr val="1A1A1A"/>
                </a:solidFill>
                <a:latin typeface="Public Sans" pitchFamily="34" charset="0"/>
                <a:ea typeface="Public Sans" pitchFamily="34" charset="-122"/>
                <a:cs typeface="Public Sans" pitchFamily="34" charset="-120"/>
              </a:rPr>
              <a:t>UV sterilization keeps the chamber hygienic</a:t>
            </a:r>
            <a:endParaRPr lang="en-US" sz="1300"/>
          </a:p>
          <a:p>
            <a:pPr marL="155956" indent="-155956" algn="l">
              <a:lnSpc>
                <a:spcPts val="1820"/>
              </a:lnSpc>
              <a:buSzPct val="100000"/>
              <a:buChar char="•"/>
            </a:pPr>
            <a:r>
              <a:rPr lang="en-US" sz="1300">
                <a:solidFill>
                  <a:srgbClr val="1A1A1A"/>
                </a:solidFill>
                <a:latin typeface="Public Sans" pitchFamily="34" charset="0"/>
                <a:ea typeface="Public Sans" pitchFamily="34" charset="-122"/>
                <a:cs typeface="Public Sans" pitchFamily="34" charset="-120"/>
              </a:rPr>
              <a:t>Web interface, mobile alerts &amp; data logging</a:t>
            </a:r>
            <a:endParaRPr lang="en-US" sz="1300"/>
          </a:p>
        </p:txBody>
      </p:sp>
      <p:sp>
        <p:nvSpPr>
          <p:cNvPr id="14" name="Shape 11"/>
          <p:cNvSpPr/>
          <p:nvPr/>
        </p:nvSpPr>
        <p:spPr>
          <a:xfrm>
            <a:off x="4321175" y="2659380"/>
            <a:ext cx="3549650" cy="3484245"/>
          </a:xfrm>
          <a:prstGeom prst="roundRect">
            <a:avLst>
              <a:gd name="adj" fmla="val 2825"/>
            </a:avLst>
          </a:prstGeom>
          <a:solidFill>
            <a:srgbClr val="F2F6FB"/>
          </a:solidFill>
          <a:ln w="6350">
            <a:solidFill>
              <a:srgbClr val="D6E2F0"/>
            </a:solidFill>
            <a:prstDash val="solid"/>
          </a:ln>
        </p:spPr>
      </p:sp>
      <p:sp>
        <p:nvSpPr>
          <p:cNvPr id="15" name="Text 12"/>
          <p:cNvSpPr/>
          <p:nvPr/>
        </p:nvSpPr>
        <p:spPr>
          <a:xfrm>
            <a:off x="4526280" y="2839085"/>
            <a:ext cx="3233623" cy="513080"/>
          </a:xfrm>
          <a:prstGeom prst="rect">
            <a:avLst/>
          </a:prstGeom>
          <a:noFill/>
          <a:ln/>
        </p:spPr>
        <p:txBody>
          <a:bodyPr wrap="square" lIns="0" tIns="0" rIns="0" bIns="0" rtlCol="0" anchor="t">
            <a:normAutofit/>
          </a:bodyPr>
          <a:lstStyle/>
          <a:p>
            <a:pPr marL="0" indent="0" algn="l">
              <a:lnSpc>
                <a:spcPts val="1920"/>
              </a:lnSpc>
              <a:buNone/>
            </a:pPr>
            <a:r>
              <a:rPr lang="en-US" sz="1600" b="1">
                <a:solidFill>
                  <a:srgbClr val="0070C0"/>
                </a:solidFill>
                <a:latin typeface="Public Sans" pitchFamily="34" charset="0"/>
                <a:ea typeface="Public Sans" pitchFamily="34" charset="-122"/>
                <a:cs typeface="Public Sans" pitchFamily="34" charset="-120"/>
              </a:rPr>
              <a:t>How does it address the problem</a:t>
            </a:r>
            <a:endParaRPr lang="en-US" sz="1600"/>
          </a:p>
        </p:txBody>
      </p:sp>
      <p:sp>
        <p:nvSpPr>
          <p:cNvPr id="16" name="Text 13"/>
          <p:cNvSpPr/>
          <p:nvPr/>
        </p:nvSpPr>
        <p:spPr>
          <a:xfrm>
            <a:off x="4624324" y="3415665"/>
            <a:ext cx="3127959" cy="1643380"/>
          </a:xfrm>
          <a:prstGeom prst="rect">
            <a:avLst/>
          </a:prstGeom>
          <a:noFill/>
          <a:ln/>
        </p:spPr>
        <p:txBody>
          <a:bodyPr wrap="square" lIns="0" tIns="0" rIns="0" bIns="0" rtlCol="0" anchor="t">
            <a:normAutofit/>
          </a:bodyPr>
          <a:lstStyle/>
          <a:p>
            <a:pPr marL="155956" indent="-155956" algn="l">
              <a:lnSpc>
                <a:spcPts val="1820"/>
              </a:lnSpc>
              <a:buSzPct val="100000"/>
              <a:buChar char="•"/>
            </a:pPr>
            <a:r>
              <a:rPr lang="en-US" sz="1300" b="1">
                <a:solidFill>
                  <a:srgbClr val="1A1A1A"/>
                </a:solidFill>
                <a:latin typeface="Public Sans" pitchFamily="34" charset="0"/>
                <a:ea typeface="Public Sans" pitchFamily="34" charset="-122"/>
                <a:cs typeface="Public Sans" pitchFamily="34" charset="-120"/>
              </a:rPr>
              <a:t>Instability</a:t>
            </a:r>
            <a:r>
              <a:rPr lang="en-US" sz="1300">
                <a:solidFill>
                  <a:srgbClr val="1A1A1A"/>
                </a:solidFill>
                <a:latin typeface="Public Sans" pitchFamily="34" charset="0"/>
                <a:ea typeface="Public Sans" pitchFamily="34" charset="-122"/>
                <a:cs typeface="Public Sans" pitchFamily="34" charset="-120"/>
              </a:rPr>
              <a:t> → PID keeps conditions steady</a:t>
            </a:r>
            <a:endParaRPr lang="en-US" sz="1300"/>
          </a:p>
          <a:p>
            <a:pPr marL="155956" indent="-155956" algn="l">
              <a:lnSpc>
                <a:spcPts val="1820"/>
              </a:lnSpc>
              <a:buSzPct val="100000"/>
              <a:buChar char="•"/>
            </a:pPr>
            <a:r>
              <a:rPr lang="en-US" sz="1300" b="1">
                <a:solidFill>
                  <a:srgbClr val="1A1A1A"/>
                </a:solidFill>
                <a:latin typeface="Public Sans" pitchFamily="34" charset="0"/>
                <a:ea typeface="Public Sans" pitchFamily="34" charset="-122"/>
                <a:cs typeface="Public Sans" pitchFamily="34" charset="-120"/>
              </a:rPr>
              <a:t>No live monitoring</a:t>
            </a:r>
            <a:r>
              <a:rPr lang="en-US" sz="1300">
                <a:solidFill>
                  <a:srgbClr val="1A1A1A"/>
                </a:solidFill>
                <a:latin typeface="Public Sans" pitchFamily="34" charset="0"/>
                <a:ea typeface="Public Sans" pitchFamily="34" charset="-122"/>
                <a:cs typeface="Public Sans" pitchFamily="34" charset="-120"/>
              </a:rPr>
              <a:t> → IoT dashboard &amp; instant alerts</a:t>
            </a:r>
            <a:endParaRPr lang="en-US" sz="1300"/>
          </a:p>
          <a:p>
            <a:pPr marL="155956" indent="-155956" algn="l">
              <a:lnSpc>
                <a:spcPts val="1820"/>
              </a:lnSpc>
              <a:buSzPct val="100000"/>
              <a:buChar char="•"/>
            </a:pPr>
            <a:r>
              <a:rPr lang="en-US" sz="1300" b="1">
                <a:solidFill>
                  <a:srgbClr val="1A1A1A"/>
                </a:solidFill>
                <a:latin typeface="Public Sans" pitchFamily="34" charset="0"/>
                <a:ea typeface="Public Sans" pitchFamily="34" charset="-122"/>
                <a:cs typeface="Public Sans" pitchFamily="34" charset="-120"/>
              </a:rPr>
              <a:t>Infection risk</a:t>
            </a:r>
            <a:r>
              <a:rPr lang="en-US" sz="1300">
                <a:solidFill>
                  <a:srgbClr val="1A1A1A"/>
                </a:solidFill>
                <a:latin typeface="Public Sans" pitchFamily="34" charset="0"/>
                <a:ea typeface="Public Sans" pitchFamily="34" charset="-122"/>
                <a:cs typeface="Public Sans" pitchFamily="34" charset="-120"/>
              </a:rPr>
              <a:t> → UV sterilization</a:t>
            </a:r>
            <a:endParaRPr lang="en-US" sz="1300"/>
          </a:p>
          <a:p>
            <a:pPr marL="155956" indent="-155956" algn="l">
              <a:lnSpc>
                <a:spcPts val="1820"/>
              </a:lnSpc>
              <a:buSzPct val="100000"/>
              <a:buChar char="•"/>
            </a:pPr>
            <a:r>
              <a:rPr lang="en-US" sz="1300" b="1">
                <a:solidFill>
                  <a:srgbClr val="1A1A1A"/>
                </a:solidFill>
                <a:latin typeface="Public Sans" pitchFamily="34" charset="0"/>
                <a:ea typeface="Public Sans" pitchFamily="34" charset="-122"/>
                <a:cs typeface="Public Sans" pitchFamily="34" charset="-120"/>
              </a:rPr>
              <a:t>High cost</a:t>
            </a:r>
            <a:r>
              <a:rPr lang="en-US" sz="1300">
                <a:solidFill>
                  <a:srgbClr val="1A1A1A"/>
                </a:solidFill>
                <a:latin typeface="Public Sans" pitchFamily="34" charset="0"/>
                <a:ea typeface="Public Sans" pitchFamily="34" charset="-122"/>
                <a:cs typeface="Public Sans" pitchFamily="34" charset="-120"/>
              </a:rPr>
              <a:t> → low-cost, scalable unit (₹50,000)</a:t>
            </a:r>
            <a:endParaRPr lang="en-US" sz="1300"/>
          </a:p>
        </p:txBody>
      </p:sp>
      <p:sp>
        <p:nvSpPr>
          <p:cNvPr id="17" name="Shape 14"/>
          <p:cNvSpPr/>
          <p:nvPr/>
        </p:nvSpPr>
        <p:spPr>
          <a:xfrm>
            <a:off x="8029575" y="2659380"/>
            <a:ext cx="3549650" cy="3484245"/>
          </a:xfrm>
          <a:prstGeom prst="roundRect">
            <a:avLst>
              <a:gd name="adj" fmla="val 2825"/>
            </a:avLst>
          </a:prstGeom>
          <a:solidFill>
            <a:srgbClr val="F2F6FB"/>
          </a:solidFill>
          <a:ln w="6350">
            <a:solidFill>
              <a:srgbClr val="D6E2F0"/>
            </a:solidFill>
            <a:prstDash val="solid"/>
          </a:ln>
        </p:spPr>
      </p:sp>
      <p:sp>
        <p:nvSpPr>
          <p:cNvPr id="18" name="Text 15"/>
          <p:cNvSpPr/>
          <p:nvPr/>
        </p:nvSpPr>
        <p:spPr>
          <a:xfrm>
            <a:off x="8234680" y="2839085"/>
            <a:ext cx="3233623" cy="513080"/>
          </a:xfrm>
          <a:prstGeom prst="rect">
            <a:avLst/>
          </a:prstGeom>
          <a:noFill/>
          <a:ln/>
        </p:spPr>
        <p:txBody>
          <a:bodyPr wrap="square" lIns="0" tIns="0" rIns="0" bIns="0" rtlCol="0" anchor="t">
            <a:normAutofit/>
          </a:bodyPr>
          <a:lstStyle/>
          <a:p>
            <a:pPr marL="0" indent="0" algn="l">
              <a:lnSpc>
                <a:spcPts val="1920"/>
              </a:lnSpc>
              <a:buNone/>
            </a:pPr>
            <a:r>
              <a:rPr lang="en-US" sz="1600" b="1">
                <a:solidFill>
                  <a:srgbClr val="0070C0"/>
                </a:solidFill>
                <a:latin typeface="Public Sans" pitchFamily="34" charset="0"/>
                <a:ea typeface="Public Sans" pitchFamily="34" charset="-122"/>
                <a:cs typeface="Public Sans" pitchFamily="34" charset="-120"/>
              </a:rPr>
              <a:t>Innovation and uniqueness of the solution</a:t>
            </a:r>
            <a:endParaRPr lang="en-US" sz="1600"/>
          </a:p>
        </p:txBody>
      </p:sp>
      <p:sp>
        <p:nvSpPr>
          <p:cNvPr id="19" name="Text 16"/>
          <p:cNvSpPr/>
          <p:nvPr/>
        </p:nvSpPr>
        <p:spPr>
          <a:xfrm>
            <a:off x="8332724" y="3415665"/>
            <a:ext cx="3127959" cy="1874520"/>
          </a:xfrm>
          <a:prstGeom prst="rect">
            <a:avLst/>
          </a:prstGeom>
          <a:noFill/>
          <a:ln/>
        </p:spPr>
        <p:txBody>
          <a:bodyPr wrap="square" lIns="0" tIns="0" rIns="0" bIns="0" rtlCol="0" anchor="t">
            <a:normAutofit/>
          </a:bodyPr>
          <a:lstStyle/>
          <a:p>
            <a:pPr marL="155956" indent="-155956" algn="l">
              <a:lnSpc>
                <a:spcPts val="1820"/>
              </a:lnSpc>
              <a:buSzPct val="100000"/>
              <a:buChar char="•"/>
            </a:pPr>
            <a:r>
              <a:rPr lang="en-US" sz="1300">
                <a:solidFill>
                  <a:srgbClr val="1A1A1A"/>
                </a:solidFill>
                <a:latin typeface="Public Sans" pitchFamily="34" charset="0"/>
                <a:ea typeface="Public Sans" pitchFamily="34" charset="-122"/>
                <a:cs typeface="Public Sans" pitchFamily="34" charset="-120"/>
              </a:rPr>
              <a:t>IoT + real-time monitoring in one unit</a:t>
            </a:r>
            <a:endParaRPr lang="en-US" sz="1300"/>
          </a:p>
          <a:p>
            <a:pPr marL="155956" indent="-155956" algn="l">
              <a:lnSpc>
                <a:spcPts val="1820"/>
              </a:lnSpc>
              <a:buSzPct val="100000"/>
              <a:buChar char="•"/>
            </a:pPr>
            <a:r>
              <a:rPr lang="en-US" sz="1300">
                <a:solidFill>
                  <a:srgbClr val="1A1A1A"/>
                </a:solidFill>
                <a:latin typeface="Public Sans" pitchFamily="34" charset="0"/>
                <a:ea typeface="Public Sans" pitchFamily="34" charset="-122"/>
                <a:cs typeface="Public Sans" pitchFamily="34" charset="-120"/>
              </a:rPr>
              <a:t>Automated temperature &amp; humidity regulation</a:t>
            </a:r>
            <a:endParaRPr lang="en-US" sz="1300"/>
          </a:p>
          <a:p>
            <a:pPr marL="155956" indent="-155956" algn="l">
              <a:lnSpc>
                <a:spcPts val="1820"/>
              </a:lnSpc>
              <a:buSzPct val="100000"/>
              <a:buChar char="•"/>
            </a:pPr>
            <a:r>
              <a:rPr lang="en-US" sz="1300">
                <a:solidFill>
                  <a:srgbClr val="1A1A1A"/>
                </a:solidFill>
                <a:latin typeface="Public Sans" pitchFamily="34" charset="0"/>
                <a:ea typeface="Public Sans" pitchFamily="34" charset="-122"/>
                <a:cs typeface="Public Sans" pitchFamily="34" charset="-120"/>
              </a:rPr>
              <a:t>Motion detection with caregiver alerts</a:t>
            </a:r>
            <a:endParaRPr lang="en-US" sz="1300"/>
          </a:p>
          <a:p>
            <a:pPr marL="155956" indent="-155956" algn="l">
              <a:lnSpc>
                <a:spcPts val="1820"/>
              </a:lnSpc>
              <a:buSzPct val="100000"/>
              <a:buChar char="•"/>
            </a:pPr>
            <a:r>
              <a:rPr lang="en-US" sz="1300">
                <a:solidFill>
                  <a:srgbClr val="1A1A1A"/>
                </a:solidFill>
                <a:latin typeface="Public Sans" pitchFamily="34" charset="0"/>
                <a:ea typeface="Public Sans" pitchFamily="34" charset="-122"/>
                <a:cs typeface="Public Sans" pitchFamily="34" charset="-120"/>
              </a:rPr>
              <a:t>Built-in UV sterilization</a:t>
            </a:r>
            <a:endParaRPr lang="en-US" sz="1300"/>
          </a:p>
          <a:p>
            <a:pPr marL="155956" indent="-155956" algn="l">
              <a:lnSpc>
                <a:spcPts val="1820"/>
              </a:lnSpc>
              <a:buSzPct val="100000"/>
              <a:buChar char="•"/>
            </a:pPr>
            <a:r>
              <a:rPr lang="en-US" sz="1300">
                <a:solidFill>
                  <a:srgbClr val="1A1A1A"/>
                </a:solidFill>
                <a:latin typeface="Public Sans" pitchFamily="34" charset="0"/>
                <a:ea typeface="Public Sans" pitchFamily="34" charset="-122"/>
                <a:cs typeface="Public Sans" pitchFamily="34" charset="-120"/>
              </a:rPr>
              <a:t>Remote access for hospitals, clinics &amp; home care</a:t>
            </a:r>
            <a:endParaRPr lang="en-US" sz="1300"/>
          </a:p>
        </p:txBody>
      </p:sp>
      <p:sp>
        <p:nvSpPr>
          <p:cNvPr id="20" name="Text 17"/>
          <p:cNvSpPr/>
          <p:nvPr/>
        </p:nvSpPr>
        <p:spPr>
          <a:xfrm>
            <a:off x="2171700" y="6339841"/>
            <a:ext cx="7848600" cy="238760"/>
          </a:xfrm>
          <a:prstGeom prst="rect">
            <a:avLst/>
          </a:prstGeom>
          <a:noFill/>
          <a:ln/>
        </p:spPr>
        <p:txBody>
          <a:bodyPr wrap="square" lIns="0" tIns="0" rIns="0" bIns="0" rtlCol="0" anchor="t">
            <a:normAutofit/>
          </a:bodyPr>
          <a:lstStyle/>
          <a:p>
            <a:pPr marL="0" indent="0" algn="ctr">
              <a:lnSpc>
                <a:spcPts val="1680"/>
              </a:lnSpc>
              <a:buNone/>
            </a:pPr>
            <a:r>
              <a:rPr lang="en-US" sz="1200">
                <a:solidFill>
                  <a:srgbClr val="1F3864"/>
                </a:solidFill>
                <a:latin typeface="Public Sans" pitchFamily="34" charset="0"/>
                <a:ea typeface="Public Sans" pitchFamily="34" charset="-122"/>
                <a:cs typeface="Public Sans" pitchFamily="34" charset="-120"/>
              </a:rPr>
              <a:t>@HSC submission- Template</a:t>
            </a:r>
            <a:endParaRPr lang="en-US" sz="1200"/>
          </a:p>
        </p:txBody>
      </p:sp>
      <p:sp>
        <p:nvSpPr>
          <p:cNvPr id="21" name="Text 18"/>
          <p:cNvSpPr/>
          <p:nvPr/>
        </p:nvSpPr>
        <p:spPr>
          <a:xfrm>
            <a:off x="11150600" y="6339841"/>
            <a:ext cx="431800" cy="238760"/>
          </a:xfrm>
          <a:prstGeom prst="rect">
            <a:avLst/>
          </a:prstGeom>
          <a:noFill/>
          <a:ln/>
        </p:spPr>
        <p:txBody>
          <a:bodyPr wrap="square" lIns="0" tIns="0" rIns="0" bIns="0" rtlCol="0" anchor="t">
            <a:normAutofit/>
          </a:bodyPr>
          <a:lstStyle/>
          <a:p>
            <a:pPr marL="0" indent="0" algn="r">
              <a:lnSpc>
                <a:spcPts val="1680"/>
              </a:lnSpc>
              <a:buNone/>
            </a:pPr>
            <a:r>
              <a:rPr lang="en-US" sz="1200">
                <a:solidFill>
                  <a:srgbClr val="6B7280"/>
                </a:solidFill>
                <a:latin typeface="Public Sans" pitchFamily="34" charset="0"/>
                <a:ea typeface="Public Sans" pitchFamily="34" charset="-122"/>
                <a:cs typeface="Public Sans" pitchFamily="34" charset="-120"/>
              </a:rPr>
              <a:t>2</a:t>
            </a:r>
            <a:endParaRPr lang="en-US" sz="12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DFDFC"/>
        </a:solidFill>
        <a:effectLst/>
      </p:bgPr>
    </p:bg>
    <p:spTree>
      <p:nvGrpSpPr>
        <p:cNvPr id="1" name=""/>
        <p:cNvGrpSpPr/>
        <p:nvPr/>
      </p:nvGrpSpPr>
      <p:grpSpPr>
        <a:xfrm>
          <a:off x="0" y="0"/>
          <a:ext cx="0" cy="0"/>
          <a:chOff x="0" y="0"/>
          <a:chExt cx="0" cy="0"/>
        </a:xfrm>
      </p:grpSpPr>
      <p:sp>
        <p:nvSpPr>
          <p:cNvPr id="2" name="Text 0"/>
          <p:cNvSpPr/>
          <p:nvPr/>
        </p:nvSpPr>
        <p:spPr>
          <a:xfrm>
            <a:off x="615950" y="336550"/>
            <a:ext cx="1511300" cy="546100"/>
          </a:xfrm>
          <a:prstGeom prst="roundRect">
            <a:avLst>
              <a:gd name="adj" fmla="val 50000"/>
            </a:avLst>
          </a:prstGeom>
          <a:gradFill rotWithShape="1">
            <a:gsLst>
              <a:gs pos="0">
                <a:srgbClr val="FFE3C7"/>
              </a:gs>
              <a:gs pos="100000">
                <a:srgbClr val="F7B27A"/>
              </a:gs>
            </a:gsLst>
            <a:lin ang="5400000" scaled="0"/>
          </a:gradFill>
          <a:ln w="12700">
            <a:solidFill>
              <a:srgbClr val="E8964F"/>
            </a:solidFill>
            <a:prstDash val="solid"/>
          </a:ln>
        </p:spPr>
        <p:txBody>
          <a:bodyPr wrap="square" lIns="0" tIns="0" rIns="0" bIns="0" rtlCol="0" anchor="ctr">
            <a:normAutofit fontScale="40000" lnSpcReduction="20000"/>
          </a:bodyPr>
          <a:lstStyle/>
          <a:p>
            <a:pPr marL="0" indent="0" algn="ctr">
              <a:lnSpc>
                <a:spcPts val="1960"/>
              </a:lnSpc>
              <a:buNone/>
            </a:pPr>
            <a:r>
              <a:rPr lang="en-US" sz="1400">
                <a:solidFill>
                  <a:srgbClr val="1A1A1A"/>
                </a:solidFill>
                <a:latin typeface="Public Sans" pitchFamily="34" charset="0"/>
              </a:rPr>
              <a:t>Incubator temperature controller</a:t>
            </a:r>
            <a:endParaRPr lang="en-US" sz="1400"/>
          </a:p>
        </p:txBody>
      </p:sp>
      <p:sp>
        <p:nvSpPr>
          <p:cNvPr id="3" name="Text 1"/>
          <p:cNvSpPr>
            <a:spLocks noGrp="1"/>
          </p:cNvSpPr>
          <p:nvPr>
            <p:ph type="title"/>
          </p:nvPr>
        </p:nvSpPr>
        <p:spPr>
          <a:xfrm>
            <a:off x="2170748" y="390525"/>
            <a:ext cx="7914005" cy="463550"/>
          </a:xfrm>
          <a:prstGeom prst="rect">
            <a:avLst/>
          </a:prstGeom>
          <a:noFill/>
          <a:ln/>
        </p:spPr>
        <p:txBody>
          <a:bodyPr wrap="square" lIns="0" tIns="0" rIns="0" bIns="0" rtlCol="0" anchor="t">
            <a:normAutofit/>
          </a:bodyPr>
          <a:lstStyle/>
          <a:p>
            <a:pPr marL="0" indent="0" algn="ctr">
              <a:lnSpc>
                <a:spcPts val="3450"/>
              </a:lnSpc>
              <a:buNone/>
            </a:pPr>
            <a:r>
              <a:rPr lang="en-US" sz="3000" b="1" i="0">
                <a:solidFill>
                  <a:srgbClr val="1F497D"/>
                </a:solidFill>
                <a:latin typeface="Public Sans" pitchFamily="34" charset="0"/>
                <a:ea typeface="Public Sans" pitchFamily="34" charset="-122"/>
                <a:cs typeface="Public Sans" pitchFamily="34" charset="-120"/>
              </a:rPr>
              <a:t>Technical Approach</a:t>
            </a:r>
            <a:endParaRPr lang="en-US" sz="3000"/>
          </a:p>
        </p:txBody>
      </p:sp>
      <p:pic>
        <p:nvPicPr>
          <p:cNvPr id="4" name="Image 0" descr="Hack for Social Cause logo"/>
          <p:cNvPicPr>
            <a:picLocks noChangeAspect="1"/>
          </p:cNvPicPr>
          <p:nvPr/>
        </p:nvPicPr>
        <p:blipFill>
          <a:blip r:embed="rId3"/>
          <a:srcRect l="-120" r="-120"/>
          <a:stretch/>
        </p:blipFill>
        <p:spPr>
          <a:xfrm>
            <a:off x="10121900" y="247650"/>
            <a:ext cx="1460500" cy="723900"/>
          </a:xfrm>
          <a:prstGeom prst="rect">
            <a:avLst/>
          </a:prstGeom>
        </p:spPr>
      </p:pic>
      <p:sp>
        <p:nvSpPr>
          <p:cNvPr id="5" name="Shape 2"/>
          <p:cNvSpPr/>
          <p:nvPr/>
        </p:nvSpPr>
        <p:spPr>
          <a:xfrm>
            <a:off x="612775" y="1120775"/>
            <a:ext cx="10966450" cy="1477010"/>
          </a:xfrm>
          <a:prstGeom prst="roundRect">
            <a:avLst>
              <a:gd name="adj" fmla="val 6664"/>
            </a:avLst>
          </a:prstGeom>
          <a:solidFill>
            <a:srgbClr val="F2F6FB"/>
          </a:solidFill>
          <a:ln w="6350">
            <a:solidFill>
              <a:srgbClr val="D6E2F0"/>
            </a:solidFill>
            <a:prstDash val="solid"/>
          </a:ln>
        </p:spPr>
      </p:sp>
      <p:sp>
        <p:nvSpPr>
          <p:cNvPr id="6" name="Text 3"/>
          <p:cNvSpPr/>
          <p:nvPr/>
        </p:nvSpPr>
        <p:spPr>
          <a:xfrm>
            <a:off x="817880" y="1275080"/>
            <a:ext cx="10872927" cy="254000"/>
          </a:xfrm>
          <a:prstGeom prst="rect">
            <a:avLst/>
          </a:prstGeom>
          <a:noFill/>
          <a:ln/>
        </p:spPr>
        <p:txBody>
          <a:bodyPr wrap="square" lIns="0" tIns="0" rIns="0" bIns="0" rtlCol="0" anchor="t">
            <a:normAutofit/>
          </a:bodyPr>
          <a:lstStyle/>
          <a:p>
            <a:pPr marL="0" indent="0" algn="l">
              <a:lnSpc>
                <a:spcPts val="1800"/>
              </a:lnSpc>
              <a:buNone/>
            </a:pPr>
            <a:r>
              <a:rPr lang="en-US" sz="1500" b="1">
                <a:solidFill>
                  <a:srgbClr val="0070C0"/>
                </a:solidFill>
                <a:latin typeface="Public Sans" pitchFamily="34" charset="0"/>
                <a:ea typeface="Public Sans" pitchFamily="34" charset="-122"/>
                <a:cs typeface="Public Sans" pitchFamily="34" charset="-120"/>
              </a:rPr>
              <a:t>Methodology and process for implementation</a:t>
            </a:r>
            <a:endParaRPr lang="en-US" sz="1500"/>
          </a:p>
        </p:txBody>
      </p:sp>
      <p:sp>
        <p:nvSpPr>
          <p:cNvPr id="7" name="Text 4"/>
          <p:cNvSpPr/>
          <p:nvPr/>
        </p:nvSpPr>
        <p:spPr>
          <a:xfrm>
            <a:off x="824230" y="1611630"/>
            <a:ext cx="1212294" cy="825500"/>
          </a:xfrm>
          <a:prstGeom prst="roundRect">
            <a:avLst>
              <a:gd name="adj" fmla="val 8462"/>
            </a:avLst>
          </a:prstGeom>
          <a:solidFill>
            <a:srgbClr val="FDE6CF"/>
          </a:solidFill>
          <a:ln w="12700">
            <a:solidFill>
              <a:srgbClr val="E8964F"/>
            </a:solidFill>
            <a:prstDash val="solid"/>
          </a:ln>
        </p:spPr>
        <p:txBody>
          <a:bodyPr wrap="square" lIns="46852" tIns="72252" rIns="46852" bIns="72252" rtlCol="0" anchor="ctr">
            <a:normAutofit/>
          </a:bodyPr>
          <a:lstStyle/>
          <a:p>
            <a:pPr marL="0" indent="0" algn="ctr">
              <a:lnSpc>
                <a:spcPts val="1680"/>
              </a:lnSpc>
              <a:buNone/>
            </a:pPr>
            <a:r>
              <a:rPr lang="en-US" sz="1200" b="1">
                <a:solidFill>
                  <a:srgbClr val="1A1A1A"/>
                </a:solidFill>
                <a:latin typeface="Public Sans" pitchFamily="34" charset="0"/>
                <a:ea typeface="Public Sans" pitchFamily="34" charset="-122"/>
                <a:cs typeface="Public Sans" pitchFamily="34" charset="-120"/>
              </a:rPr>
              <a:t>Start</a:t>
            </a:r>
            <a:endParaRPr lang="en-US" sz="1200"/>
          </a:p>
        </p:txBody>
      </p:sp>
      <p:pic>
        <p:nvPicPr>
          <p:cNvPr id="8" name="Image 1" descr="arrow-right"/>
          <p:cNvPicPr>
            <a:picLocks noChangeAspect="1"/>
          </p:cNvPicPr>
          <p:nvPr/>
        </p:nvPicPr>
        <p:blipFill>
          <a:blip r:embed="rId4"/>
          <a:srcRect/>
          <a:stretch/>
        </p:blipFill>
        <p:spPr>
          <a:xfrm>
            <a:off x="2093674" y="1935480"/>
            <a:ext cx="228600" cy="177800"/>
          </a:xfrm>
          <a:prstGeom prst="rect">
            <a:avLst/>
          </a:prstGeom>
        </p:spPr>
      </p:pic>
      <p:sp>
        <p:nvSpPr>
          <p:cNvPr id="9" name="Text 5"/>
          <p:cNvSpPr/>
          <p:nvPr/>
        </p:nvSpPr>
        <p:spPr>
          <a:xfrm>
            <a:off x="2379424" y="1611630"/>
            <a:ext cx="1212374" cy="825500"/>
          </a:xfrm>
          <a:custGeom>
            <a:avLst/>
            <a:gdLst/>
            <a:ahLst/>
            <a:cxnLst/>
            <a:rect l="l" t="t" r="r" b="b"/>
            <a:pathLst>
              <a:path w="1212374" h="825500">
                <a:moveTo>
                  <a:pt x="69850" y="0"/>
                </a:moveTo>
                <a:lnTo>
                  <a:pt x="1142524" y="0"/>
                </a:lnTo>
                <a:arcTo wR="69850" hR="69850" stAng="16200000" swAng="5400000"/>
                <a:lnTo>
                  <a:pt x="1212374" y="755650"/>
                </a:lnTo>
                <a:arcTo wR="69850" hR="69850" stAng="0" swAng="5400000"/>
                <a:lnTo>
                  <a:pt x="69850" y="825500"/>
                </a:lnTo>
                <a:arcTo wR="69850" hR="69850" stAng="5400000" swAng="5400000"/>
                <a:lnTo>
                  <a:pt x="0" y="69850"/>
                </a:lnTo>
                <a:arcTo wR="69850" hR="69850" stAng="10800000" swAng="5400000"/>
                <a:close/>
              </a:path>
            </a:pathLst>
          </a:custGeom>
          <a:solidFill>
            <a:srgbClr val="DCEBFA"/>
          </a:solidFill>
          <a:ln w="12700">
            <a:solidFill>
              <a:srgbClr val="7FB2E5"/>
            </a:solidFill>
            <a:prstDash val="solid"/>
          </a:ln>
        </p:spPr>
        <p:txBody>
          <a:bodyPr wrap="square" lIns="41910" tIns="92710" rIns="41910" bIns="92710" rtlCol="0" anchor="ctr">
            <a:normAutofit/>
          </a:bodyPr>
          <a:lstStyle/>
          <a:p>
            <a:pPr marL="0" indent="0" algn="ctr">
              <a:lnSpc>
                <a:spcPts val="1680"/>
              </a:lnSpc>
              <a:buNone/>
            </a:pPr>
            <a:r>
              <a:rPr lang="en-US" sz="1200">
                <a:solidFill>
                  <a:srgbClr val="1A1A1A"/>
                </a:solidFill>
                <a:latin typeface="Public Sans" pitchFamily="34" charset="0"/>
                <a:ea typeface="Public Sans" pitchFamily="34" charset="-122"/>
                <a:cs typeface="Public Sans" pitchFamily="34" charset="-120"/>
              </a:rPr>
              <a:t>Choose auto / manual trigger</a:t>
            </a:r>
            <a:endParaRPr lang="en-US" sz="1200"/>
          </a:p>
        </p:txBody>
      </p:sp>
      <p:pic>
        <p:nvPicPr>
          <p:cNvPr id="10" name="Image 2" descr="arrow-right"/>
          <p:cNvPicPr>
            <a:picLocks noChangeAspect="1"/>
          </p:cNvPicPr>
          <p:nvPr/>
        </p:nvPicPr>
        <p:blipFill>
          <a:blip r:embed="rId4"/>
          <a:srcRect/>
          <a:stretch/>
        </p:blipFill>
        <p:spPr>
          <a:xfrm>
            <a:off x="3648948" y="1935480"/>
            <a:ext cx="228600" cy="177800"/>
          </a:xfrm>
          <a:prstGeom prst="rect">
            <a:avLst/>
          </a:prstGeom>
        </p:spPr>
      </p:pic>
      <p:sp>
        <p:nvSpPr>
          <p:cNvPr id="11" name="Text 6"/>
          <p:cNvSpPr/>
          <p:nvPr/>
        </p:nvSpPr>
        <p:spPr>
          <a:xfrm>
            <a:off x="3934698" y="1611630"/>
            <a:ext cx="1212294" cy="825500"/>
          </a:xfrm>
          <a:custGeom>
            <a:avLst/>
            <a:gdLst/>
            <a:ahLst/>
            <a:cxnLst/>
            <a:rect l="l" t="t" r="r" b="b"/>
            <a:pathLst>
              <a:path w="1212294" h="825500">
                <a:moveTo>
                  <a:pt x="69850" y="0"/>
                </a:moveTo>
                <a:lnTo>
                  <a:pt x="1142444" y="0"/>
                </a:lnTo>
                <a:arcTo wR="69850" hR="69850" stAng="16200000" swAng="5400000"/>
                <a:lnTo>
                  <a:pt x="1212294" y="755650"/>
                </a:lnTo>
                <a:arcTo wR="69850" hR="69850" stAng="0" swAng="5400000"/>
                <a:lnTo>
                  <a:pt x="69850" y="825500"/>
                </a:lnTo>
                <a:arcTo wR="69850" hR="69850" stAng="5400000" swAng="5400000"/>
                <a:lnTo>
                  <a:pt x="0" y="69850"/>
                </a:lnTo>
                <a:arcTo wR="69850" hR="69850" stAng="10800000" swAng="5400000"/>
                <a:close/>
              </a:path>
            </a:pathLst>
          </a:custGeom>
          <a:solidFill>
            <a:srgbClr val="DCEBFA"/>
          </a:solidFill>
          <a:ln w="12700">
            <a:solidFill>
              <a:srgbClr val="7FB2E5"/>
            </a:solidFill>
            <a:prstDash val="solid"/>
          </a:ln>
        </p:spPr>
        <p:txBody>
          <a:bodyPr wrap="square" lIns="41910" tIns="80010" rIns="41910" bIns="80010" rtlCol="0" anchor="ctr">
            <a:normAutofit/>
          </a:bodyPr>
          <a:lstStyle/>
          <a:p>
            <a:pPr marL="0" indent="0" algn="ctr">
              <a:lnSpc>
                <a:spcPts val="1680"/>
              </a:lnSpc>
              <a:buNone/>
            </a:pPr>
            <a:r>
              <a:rPr lang="en-US" sz="1200">
                <a:solidFill>
                  <a:srgbClr val="1A1A1A"/>
                </a:solidFill>
                <a:latin typeface="Public Sans" pitchFamily="34" charset="0"/>
                <a:ea typeface="Public Sans" pitchFamily="34" charset="-122"/>
                <a:cs typeface="Public Sans" pitchFamily="34" charset="-120"/>
              </a:rPr>
              <a:t>Choose alert channel (PC / mobile)</a:t>
            </a:r>
            <a:endParaRPr lang="en-US" sz="1200"/>
          </a:p>
        </p:txBody>
      </p:sp>
      <p:pic>
        <p:nvPicPr>
          <p:cNvPr id="12" name="Image 3" descr="arrow-right"/>
          <p:cNvPicPr>
            <a:picLocks noChangeAspect="1"/>
          </p:cNvPicPr>
          <p:nvPr/>
        </p:nvPicPr>
        <p:blipFill>
          <a:blip r:embed="rId4"/>
          <a:srcRect/>
          <a:stretch/>
        </p:blipFill>
        <p:spPr>
          <a:xfrm>
            <a:off x="5204142" y="1935480"/>
            <a:ext cx="228600" cy="177800"/>
          </a:xfrm>
          <a:prstGeom prst="rect">
            <a:avLst/>
          </a:prstGeom>
        </p:spPr>
      </p:pic>
      <p:sp>
        <p:nvSpPr>
          <p:cNvPr id="13" name="Text 7"/>
          <p:cNvSpPr/>
          <p:nvPr/>
        </p:nvSpPr>
        <p:spPr>
          <a:xfrm>
            <a:off x="5489892" y="1611630"/>
            <a:ext cx="1212294" cy="825500"/>
          </a:xfrm>
          <a:custGeom>
            <a:avLst/>
            <a:gdLst/>
            <a:ahLst/>
            <a:cxnLst/>
            <a:rect l="l" t="t" r="r" b="b"/>
            <a:pathLst>
              <a:path w="1212294" h="825500">
                <a:moveTo>
                  <a:pt x="69850" y="0"/>
                </a:moveTo>
                <a:lnTo>
                  <a:pt x="1142444" y="0"/>
                </a:lnTo>
                <a:arcTo wR="69850" hR="69850" stAng="16200000" swAng="5400000"/>
                <a:lnTo>
                  <a:pt x="1212294" y="755650"/>
                </a:lnTo>
                <a:arcTo wR="69850" hR="69850" stAng="0" swAng="5400000"/>
                <a:lnTo>
                  <a:pt x="69850" y="825500"/>
                </a:lnTo>
                <a:arcTo wR="69850" hR="69850" stAng="5400000" swAng="5400000"/>
                <a:lnTo>
                  <a:pt x="0" y="69850"/>
                </a:lnTo>
                <a:arcTo wR="69850" hR="69850" stAng="10800000" swAng="5400000"/>
                <a:close/>
              </a:path>
            </a:pathLst>
          </a:custGeom>
          <a:solidFill>
            <a:srgbClr val="DCEBFA"/>
          </a:solidFill>
          <a:ln w="12700">
            <a:solidFill>
              <a:srgbClr val="7FB2E5"/>
            </a:solidFill>
            <a:prstDash val="solid"/>
          </a:ln>
        </p:spPr>
        <p:txBody>
          <a:bodyPr wrap="square" lIns="41910" tIns="80010" rIns="41910" bIns="80010" rtlCol="0" anchor="ctr">
            <a:normAutofit/>
          </a:bodyPr>
          <a:lstStyle/>
          <a:p>
            <a:pPr marL="0" indent="0" algn="ctr">
              <a:lnSpc>
                <a:spcPts val="1680"/>
              </a:lnSpc>
              <a:buNone/>
            </a:pPr>
            <a:r>
              <a:rPr lang="en-US" sz="1200">
                <a:solidFill>
                  <a:srgbClr val="1A1A1A"/>
                </a:solidFill>
                <a:latin typeface="Public Sans" pitchFamily="34" charset="0"/>
                <a:ea typeface="Public Sans" pitchFamily="34" charset="-122"/>
                <a:cs typeface="Public Sans" pitchFamily="34" charset="-120"/>
              </a:rPr>
              <a:t>Newborn in incubator? Yes → Alarm</a:t>
            </a:r>
            <a:endParaRPr lang="en-US" sz="1200"/>
          </a:p>
        </p:txBody>
      </p:sp>
      <p:pic>
        <p:nvPicPr>
          <p:cNvPr id="14" name="Image 4" descr="arrow-right"/>
          <p:cNvPicPr>
            <a:picLocks noChangeAspect="1"/>
          </p:cNvPicPr>
          <p:nvPr/>
        </p:nvPicPr>
        <p:blipFill>
          <a:blip r:embed="rId4"/>
          <a:srcRect/>
          <a:stretch/>
        </p:blipFill>
        <p:spPr>
          <a:xfrm>
            <a:off x="6759337" y="1935480"/>
            <a:ext cx="228600" cy="177800"/>
          </a:xfrm>
          <a:prstGeom prst="rect">
            <a:avLst/>
          </a:prstGeom>
        </p:spPr>
      </p:pic>
      <p:sp>
        <p:nvSpPr>
          <p:cNvPr id="15" name="Text 8"/>
          <p:cNvSpPr/>
          <p:nvPr/>
        </p:nvSpPr>
        <p:spPr>
          <a:xfrm>
            <a:off x="7045087" y="1611630"/>
            <a:ext cx="1212294" cy="825500"/>
          </a:xfrm>
          <a:custGeom>
            <a:avLst/>
            <a:gdLst/>
            <a:ahLst/>
            <a:cxnLst/>
            <a:rect l="l" t="t" r="r" b="b"/>
            <a:pathLst>
              <a:path w="1212294" h="825500">
                <a:moveTo>
                  <a:pt x="69850" y="0"/>
                </a:moveTo>
                <a:lnTo>
                  <a:pt x="1142444" y="0"/>
                </a:lnTo>
                <a:arcTo wR="69850" hR="69850" stAng="16200000" swAng="5400000"/>
                <a:lnTo>
                  <a:pt x="1212294" y="755650"/>
                </a:lnTo>
                <a:arcTo wR="69850" hR="69850" stAng="0" swAng="5400000"/>
                <a:lnTo>
                  <a:pt x="69850" y="825500"/>
                </a:lnTo>
                <a:arcTo wR="69850" hR="69850" stAng="5400000" swAng="5400000"/>
                <a:lnTo>
                  <a:pt x="0" y="69850"/>
                </a:lnTo>
                <a:arcTo wR="69850" hR="69850" stAng="10800000" swAng="5400000"/>
                <a:close/>
              </a:path>
            </a:pathLst>
          </a:custGeom>
          <a:solidFill>
            <a:srgbClr val="DCEBFA"/>
          </a:solidFill>
          <a:ln w="12700">
            <a:solidFill>
              <a:srgbClr val="7FB2E5"/>
            </a:solidFill>
            <a:prstDash val="solid"/>
          </a:ln>
        </p:spPr>
        <p:txBody>
          <a:bodyPr wrap="square" lIns="41910" tIns="80010" rIns="41910" bIns="80010" rtlCol="0" anchor="ctr">
            <a:normAutofit/>
          </a:bodyPr>
          <a:lstStyle/>
          <a:p>
            <a:pPr marL="0" indent="0" algn="ctr">
              <a:lnSpc>
                <a:spcPts val="1680"/>
              </a:lnSpc>
              <a:buNone/>
            </a:pPr>
            <a:r>
              <a:rPr lang="en-US" sz="1200">
                <a:solidFill>
                  <a:srgbClr val="1A1A1A"/>
                </a:solidFill>
                <a:latin typeface="Public Sans" pitchFamily="34" charset="0"/>
                <a:ea typeface="Public Sans" pitchFamily="34" charset="-122"/>
                <a:cs typeface="Public Sans" pitchFamily="34" charset="-120"/>
              </a:rPr>
              <a:t>Calibrate temperature &amp; humidity loops</a:t>
            </a:r>
            <a:endParaRPr lang="en-US" sz="1200"/>
          </a:p>
        </p:txBody>
      </p:sp>
      <p:pic>
        <p:nvPicPr>
          <p:cNvPr id="16" name="Image 5" descr="arrow-right"/>
          <p:cNvPicPr>
            <a:picLocks noChangeAspect="1"/>
          </p:cNvPicPr>
          <p:nvPr/>
        </p:nvPicPr>
        <p:blipFill>
          <a:blip r:embed="rId4"/>
          <a:srcRect/>
          <a:stretch/>
        </p:blipFill>
        <p:spPr>
          <a:xfrm>
            <a:off x="8314531" y="1935480"/>
            <a:ext cx="228600" cy="177800"/>
          </a:xfrm>
          <a:prstGeom prst="rect">
            <a:avLst/>
          </a:prstGeom>
        </p:spPr>
      </p:pic>
      <p:sp>
        <p:nvSpPr>
          <p:cNvPr id="17" name="Text 9"/>
          <p:cNvSpPr/>
          <p:nvPr/>
        </p:nvSpPr>
        <p:spPr>
          <a:xfrm>
            <a:off x="8600281" y="1611630"/>
            <a:ext cx="1212294" cy="825500"/>
          </a:xfrm>
          <a:custGeom>
            <a:avLst/>
            <a:gdLst/>
            <a:ahLst/>
            <a:cxnLst/>
            <a:rect l="l" t="t" r="r" b="b"/>
            <a:pathLst>
              <a:path w="1212294" h="825500">
                <a:moveTo>
                  <a:pt x="69850" y="0"/>
                </a:moveTo>
                <a:lnTo>
                  <a:pt x="1142444" y="0"/>
                </a:lnTo>
                <a:arcTo wR="69850" hR="69850" stAng="16200000" swAng="5400000"/>
                <a:lnTo>
                  <a:pt x="1212294" y="755650"/>
                </a:lnTo>
                <a:arcTo wR="69850" hR="69850" stAng="0" swAng="5400000"/>
                <a:lnTo>
                  <a:pt x="69850" y="825500"/>
                </a:lnTo>
                <a:arcTo wR="69850" hR="69850" stAng="5400000" swAng="5400000"/>
                <a:lnTo>
                  <a:pt x="0" y="69850"/>
                </a:lnTo>
                <a:arcTo wR="69850" hR="69850" stAng="10800000" swAng="5400000"/>
                <a:close/>
              </a:path>
            </a:pathLst>
          </a:custGeom>
          <a:solidFill>
            <a:srgbClr val="DCEBFA"/>
          </a:solidFill>
          <a:ln w="12700">
            <a:solidFill>
              <a:srgbClr val="7FB2E5"/>
            </a:solidFill>
            <a:prstDash val="solid"/>
          </a:ln>
        </p:spPr>
        <p:txBody>
          <a:bodyPr wrap="square" lIns="41910" tIns="80010" rIns="41910" bIns="80010" rtlCol="0" anchor="ctr">
            <a:normAutofit/>
          </a:bodyPr>
          <a:lstStyle/>
          <a:p>
            <a:pPr marL="0" indent="0" algn="ctr">
              <a:lnSpc>
                <a:spcPts val="1680"/>
              </a:lnSpc>
              <a:buNone/>
            </a:pPr>
            <a:r>
              <a:rPr lang="en-US" sz="1200">
                <a:solidFill>
                  <a:srgbClr val="1A1A1A"/>
                </a:solidFill>
                <a:latin typeface="Public Sans" pitchFamily="34" charset="0"/>
                <a:ea typeface="Public Sans" pitchFamily="34" charset="-122"/>
                <a:cs typeface="Public Sans" pitchFamily="34" charset="-120"/>
              </a:rPr>
              <a:t>Test incubator; if fail, repair &amp; retest</a:t>
            </a:r>
            <a:endParaRPr lang="en-US" sz="1200"/>
          </a:p>
        </p:txBody>
      </p:sp>
      <p:pic>
        <p:nvPicPr>
          <p:cNvPr id="18" name="Image 6" descr="arrow-right"/>
          <p:cNvPicPr>
            <a:picLocks noChangeAspect="1"/>
          </p:cNvPicPr>
          <p:nvPr/>
        </p:nvPicPr>
        <p:blipFill>
          <a:blip r:embed="rId4"/>
          <a:srcRect/>
          <a:stretch/>
        </p:blipFill>
        <p:spPr>
          <a:xfrm>
            <a:off x="9869725" y="1935480"/>
            <a:ext cx="228600" cy="177800"/>
          </a:xfrm>
          <a:prstGeom prst="rect">
            <a:avLst/>
          </a:prstGeom>
        </p:spPr>
      </p:pic>
      <p:sp>
        <p:nvSpPr>
          <p:cNvPr id="19" name="Text 10"/>
          <p:cNvSpPr/>
          <p:nvPr/>
        </p:nvSpPr>
        <p:spPr>
          <a:xfrm>
            <a:off x="10155475" y="1611630"/>
            <a:ext cx="1212294" cy="825500"/>
          </a:xfrm>
          <a:prstGeom prst="roundRect">
            <a:avLst>
              <a:gd name="adj" fmla="val 8462"/>
            </a:avLst>
          </a:prstGeom>
          <a:solidFill>
            <a:srgbClr val="FDE6CF"/>
          </a:solidFill>
          <a:ln w="12700">
            <a:solidFill>
              <a:srgbClr val="E8964F"/>
            </a:solidFill>
            <a:prstDash val="solid"/>
          </a:ln>
        </p:spPr>
        <p:txBody>
          <a:bodyPr wrap="square" lIns="46852" tIns="72252" rIns="46852" bIns="72252" rtlCol="0" anchor="ctr">
            <a:normAutofit/>
          </a:bodyPr>
          <a:lstStyle/>
          <a:p>
            <a:pPr marL="0" indent="0" algn="ctr">
              <a:lnSpc>
                <a:spcPts val="1680"/>
              </a:lnSpc>
              <a:buNone/>
            </a:pPr>
            <a:r>
              <a:rPr lang="en-US" sz="1200" b="1">
                <a:solidFill>
                  <a:srgbClr val="1A1A1A"/>
                </a:solidFill>
                <a:latin typeface="Public Sans" pitchFamily="34" charset="0"/>
                <a:ea typeface="Public Sans" pitchFamily="34" charset="-122"/>
                <a:cs typeface="Public Sans" pitchFamily="34" charset="-120"/>
              </a:rPr>
              <a:t>End</a:t>
            </a:r>
            <a:endParaRPr lang="en-US" sz="1200"/>
          </a:p>
        </p:txBody>
      </p:sp>
      <p:sp>
        <p:nvSpPr>
          <p:cNvPr id="20" name="Shape 11"/>
          <p:cNvSpPr/>
          <p:nvPr/>
        </p:nvSpPr>
        <p:spPr>
          <a:xfrm>
            <a:off x="612775" y="2756536"/>
            <a:ext cx="3803650" cy="3387090"/>
          </a:xfrm>
          <a:prstGeom prst="roundRect">
            <a:avLst>
              <a:gd name="adj" fmla="val 2906"/>
            </a:avLst>
          </a:prstGeom>
          <a:solidFill>
            <a:srgbClr val="F2F6FB"/>
          </a:solidFill>
          <a:ln w="6350">
            <a:solidFill>
              <a:srgbClr val="D6E2F0"/>
            </a:solidFill>
            <a:prstDash val="solid"/>
          </a:ln>
        </p:spPr>
      </p:sp>
      <p:sp>
        <p:nvSpPr>
          <p:cNvPr id="21" name="Text 12"/>
          <p:cNvSpPr/>
          <p:nvPr/>
        </p:nvSpPr>
        <p:spPr>
          <a:xfrm>
            <a:off x="792480" y="2910841"/>
            <a:ext cx="3547567" cy="254000"/>
          </a:xfrm>
          <a:prstGeom prst="rect">
            <a:avLst/>
          </a:prstGeom>
          <a:noFill/>
          <a:ln/>
        </p:spPr>
        <p:txBody>
          <a:bodyPr wrap="square" lIns="0" tIns="0" rIns="0" bIns="0" rtlCol="0" anchor="t">
            <a:normAutofit/>
          </a:bodyPr>
          <a:lstStyle/>
          <a:p>
            <a:pPr marL="0" indent="0" algn="l">
              <a:lnSpc>
                <a:spcPts val="1800"/>
              </a:lnSpc>
              <a:buNone/>
            </a:pPr>
            <a:r>
              <a:rPr lang="en-US" sz="1500" b="1">
                <a:solidFill>
                  <a:srgbClr val="0070C0"/>
                </a:solidFill>
                <a:latin typeface="Public Sans" pitchFamily="34" charset="0"/>
                <a:ea typeface="Public Sans" pitchFamily="34" charset="-122"/>
                <a:cs typeface="Public Sans" pitchFamily="34" charset="-120"/>
              </a:rPr>
              <a:t>Technologies to be used</a:t>
            </a:r>
            <a:endParaRPr lang="en-US" sz="1500"/>
          </a:p>
        </p:txBody>
      </p:sp>
      <p:sp>
        <p:nvSpPr>
          <p:cNvPr id="22" name="Text 13"/>
          <p:cNvSpPr/>
          <p:nvPr/>
        </p:nvSpPr>
        <p:spPr>
          <a:xfrm>
            <a:off x="792480" y="3215641"/>
            <a:ext cx="3547567" cy="421640"/>
          </a:xfrm>
          <a:prstGeom prst="rect">
            <a:avLst/>
          </a:prstGeom>
          <a:noFill/>
          <a:ln/>
        </p:spPr>
        <p:txBody>
          <a:bodyPr wrap="square" lIns="0" tIns="0" rIns="0" bIns="0" rtlCol="0" anchor="t">
            <a:normAutofit/>
          </a:bodyPr>
          <a:lstStyle/>
          <a:p>
            <a:pPr marL="0" indent="0" algn="l">
              <a:lnSpc>
                <a:spcPts val="1560"/>
              </a:lnSpc>
              <a:buNone/>
            </a:pPr>
            <a:r>
              <a:rPr lang="en-US" sz="1200" b="1">
                <a:solidFill>
                  <a:srgbClr val="1A1A1A"/>
                </a:solidFill>
                <a:latin typeface="Public Sans" pitchFamily="34" charset="0"/>
                <a:ea typeface="Public Sans" pitchFamily="34" charset="-122"/>
                <a:cs typeface="Public Sans" pitchFamily="34" charset="-120"/>
              </a:rPr>
              <a:t>Sensing:</a:t>
            </a:r>
            <a:r>
              <a:rPr lang="en-US" sz="1200">
                <a:solidFill>
                  <a:srgbClr val="1A1A1A"/>
                </a:solidFill>
                <a:latin typeface="Public Sans" pitchFamily="34" charset="0"/>
                <a:ea typeface="Public Sans" pitchFamily="34" charset="-122"/>
                <a:cs typeface="Public Sans" pitchFamily="34" charset="-120"/>
              </a:rPr>
              <a:t> temperature, humidity, pressure, accelerometer, UV-C</a:t>
            </a:r>
            <a:endParaRPr lang="en-US" sz="1200"/>
          </a:p>
        </p:txBody>
      </p:sp>
      <p:sp>
        <p:nvSpPr>
          <p:cNvPr id="23" name="Text 14"/>
          <p:cNvSpPr/>
          <p:nvPr/>
        </p:nvSpPr>
        <p:spPr>
          <a:xfrm>
            <a:off x="792480" y="3688080"/>
            <a:ext cx="3547567" cy="223520"/>
          </a:xfrm>
          <a:prstGeom prst="rect">
            <a:avLst/>
          </a:prstGeom>
          <a:noFill/>
          <a:ln/>
        </p:spPr>
        <p:txBody>
          <a:bodyPr wrap="square" lIns="0" tIns="0" rIns="0" bIns="0" rtlCol="0" anchor="t">
            <a:normAutofit/>
          </a:bodyPr>
          <a:lstStyle/>
          <a:p>
            <a:pPr marL="0" indent="0" algn="l">
              <a:lnSpc>
                <a:spcPts val="1560"/>
              </a:lnSpc>
              <a:buNone/>
            </a:pPr>
            <a:r>
              <a:rPr lang="en-US" sz="1200" b="1">
                <a:solidFill>
                  <a:srgbClr val="1A1A1A"/>
                </a:solidFill>
                <a:latin typeface="Public Sans" pitchFamily="34" charset="0"/>
                <a:ea typeface="Public Sans" pitchFamily="34" charset="-122"/>
                <a:cs typeface="Public Sans" pitchFamily="34" charset="-120"/>
              </a:rPr>
              <a:t>Control:</a:t>
            </a:r>
            <a:r>
              <a:rPr lang="en-US" sz="1200">
                <a:solidFill>
                  <a:srgbClr val="1A1A1A"/>
                </a:solidFill>
                <a:latin typeface="Public Sans" pitchFamily="34" charset="0"/>
                <a:ea typeface="Public Sans" pitchFamily="34" charset="-122"/>
                <a:cs typeface="Public Sans" pitchFamily="34" charset="-120"/>
              </a:rPr>
              <a:t> microcontroller + PID algorithm</a:t>
            </a:r>
            <a:endParaRPr lang="en-US" sz="1200"/>
          </a:p>
        </p:txBody>
      </p:sp>
      <p:sp>
        <p:nvSpPr>
          <p:cNvPr id="24" name="Text 15"/>
          <p:cNvSpPr/>
          <p:nvPr/>
        </p:nvSpPr>
        <p:spPr>
          <a:xfrm>
            <a:off x="792480" y="3962400"/>
            <a:ext cx="3547567" cy="421640"/>
          </a:xfrm>
          <a:prstGeom prst="rect">
            <a:avLst/>
          </a:prstGeom>
          <a:noFill/>
          <a:ln/>
        </p:spPr>
        <p:txBody>
          <a:bodyPr wrap="square" lIns="0" tIns="0" rIns="0" bIns="0" rtlCol="0" anchor="t">
            <a:normAutofit/>
          </a:bodyPr>
          <a:lstStyle/>
          <a:p>
            <a:pPr marL="0" indent="0" algn="l">
              <a:lnSpc>
                <a:spcPts val="1560"/>
              </a:lnSpc>
              <a:buNone/>
            </a:pPr>
            <a:r>
              <a:rPr lang="en-US" sz="1200" b="1">
                <a:solidFill>
                  <a:srgbClr val="1A1A1A"/>
                </a:solidFill>
                <a:latin typeface="Public Sans" pitchFamily="34" charset="0"/>
                <a:ea typeface="Public Sans" pitchFamily="34" charset="-122"/>
                <a:cs typeface="Public Sans" pitchFamily="34" charset="-120"/>
              </a:rPr>
              <a:t>Connectivity:</a:t>
            </a:r>
            <a:r>
              <a:rPr lang="en-US" sz="1200">
                <a:solidFill>
                  <a:srgbClr val="1A1A1A"/>
                </a:solidFill>
                <a:latin typeface="Public Sans" pitchFamily="34" charset="0"/>
                <a:ea typeface="Public Sans" pitchFamily="34" charset="-122"/>
                <a:cs typeface="Public Sans" pitchFamily="34" charset="-120"/>
              </a:rPr>
              <a:t> IoT, web interface, email / SMS alerts</a:t>
            </a:r>
            <a:endParaRPr lang="en-US" sz="1200"/>
          </a:p>
        </p:txBody>
      </p:sp>
      <p:sp>
        <p:nvSpPr>
          <p:cNvPr id="25" name="Text 16"/>
          <p:cNvSpPr/>
          <p:nvPr/>
        </p:nvSpPr>
        <p:spPr>
          <a:xfrm>
            <a:off x="792480" y="4434841"/>
            <a:ext cx="3547567" cy="421640"/>
          </a:xfrm>
          <a:prstGeom prst="rect">
            <a:avLst/>
          </a:prstGeom>
          <a:noFill/>
          <a:ln/>
        </p:spPr>
        <p:txBody>
          <a:bodyPr wrap="square" lIns="0" tIns="0" rIns="0" bIns="0" rtlCol="0" anchor="t">
            <a:normAutofit/>
          </a:bodyPr>
          <a:lstStyle/>
          <a:p>
            <a:pPr marL="0" indent="0" algn="l">
              <a:lnSpc>
                <a:spcPts val="1560"/>
              </a:lnSpc>
              <a:buNone/>
            </a:pPr>
            <a:r>
              <a:rPr lang="en-US" sz="1200" b="1">
                <a:solidFill>
                  <a:srgbClr val="1A1A1A"/>
                </a:solidFill>
                <a:latin typeface="Public Sans" pitchFamily="34" charset="0"/>
                <a:ea typeface="Public Sans" pitchFamily="34" charset="-122"/>
                <a:cs typeface="Public Sans" pitchFamily="34" charset="-120"/>
              </a:rPr>
              <a:t>Validation:</a:t>
            </a:r>
            <a:r>
              <a:rPr lang="en-US" sz="1200">
                <a:solidFill>
                  <a:srgbClr val="1A1A1A"/>
                </a:solidFill>
                <a:latin typeface="Public Sans" pitchFamily="34" charset="0"/>
                <a:ea typeface="Public Sans" pitchFamily="34" charset="-122"/>
                <a:cs typeface="Public Sans" pitchFamily="34" charset="-120"/>
              </a:rPr>
              <a:t> simulation of sensor data &amp; control response</a:t>
            </a:r>
            <a:endParaRPr lang="en-US" sz="1200"/>
          </a:p>
        </p:txBody>
      </p:sp>
      <p:sp>
        <p:nvSpPr>
          <p:cNvPr id="26" name="Shape 17"/>
          <p:cNvSpPr/>
          <p:nvPr/>
        </p:nvSpPr>
        <p:spPr>
          <a:xfrm>
            <a:off x="4575175" y="2756536"/>
            <a:ext cx="3803650" cy="3387090"/>
          </a:xfrm>
          <a:prstGeom prst="roundRect">
            <a:avLst>
              <a:gd name="adj" fmla="val 2906"/>
            </a:avLst>
          </a:prstGeom>
          <a:solidFill>
            <a:srgbClr val="F2F6FB"/>
          </a:solidFill>
          <a:ln w="6350">
            <a:solidFill>
              <a:srgbClr val="D6E2F0"/>
            </a:solidFill>
            <a:prstDash val="solid"/>
          </a:ln>
        </p:spPr>
      </p:sp>
      <p:sp>
        <p:nvSpPr>
          <p:cNvPr id="27" name="Text 18"/>
          <p:cNvSpPr/>
          <p:nvPr/>
        </p:nvSpPr>
        <p:spPr>
          <a:xfrm>
            <a:off x="4754880" y="2910841"/>
            <a:ext cx="3547567" cy="254000"/>
          </a:xfrm>
          <a:prstGeom prst="rect">
            <a:avLst/>
          </a:prstGeom>
          <a:noFill/>
          <a:ln/>
        </p:spPr>
        <p:txBody>
          <a:bodyPr wrap="square" lIns="0" tIns="0" rIns="0" bIns="0" rtlCol="0" anchor="t">
            <a:normAutofit/>
          </a:bodyPr>
          <a:lstStyle/>
          <a:p>
            <a:pPr marL="0" indent="0" algn="l">
              <a:lnSpc>
                <a:spcPts val="1800"/>
              </a:lnSpc>
              <a:buNone/>
            </a:pPr>
            <a:r>
              <a:rPr lang="en-US" sz="1500" b="1">
                <a:solidFill>
                  <a:srgbClr val="0070C0"/>
                </a:solidFill>
                <a:latin typeface="Public Sans" pitchFamily="34" charset="0"/>
                <a:ea typeface="Public Sans" pitchFamily="34" charset="-122"/>
                <a:cs typeface="Public Sans" pitchFamily="34" charset="-120"/>
              </a:rPr>
              <a:t>Prototype scope</a:t>
            </a:r>
            <a:endParaRPr lang="en-US" sz="1500"/>
          </a:p>
        </p:txBody>
      </p:sp>
      <p:sp>
        <p:nvSpPr>
          <p:cNvPr id="28" name="Text 19"/>
          <p:cNvSpPr/>
          <p:nvPr/>
        </p:nvSpPr>
        <p:spPr>
          <a:xfrm>
            <a:off x="4754880" y="3215641"/>
            <a:ext cx="3547567" cy="256540"/>
          </a:xfrm>
          <a:prstGeom prst="rect">
            <a:avLst/>
          </a:prstGeom>
          <a:noFill/>
          <a:ln/>
        </p:spPr>
        <p:txBody>
          <a:bodyPr wrap="square" lIns="0" tIns="0" rIns="0" bIns="0" rtlCol="0" anchor="t">
            <a:normAutofit/>
          </a:bodyPr>
          <a:lstStyle/>
          <a:p>
            <a:pPr marL="0" indent="0" algn="l">
              <a:lnSpc>
                <a:spcPts val="1820"/>
              </a:lnSpc>
              <a:buNone/>
            </a:pPr>
            <a:r>
              <a:rPr lang="en-US" sz="1300" b="1">
                <a:solidFill>
                  <a:srgbClr val="166534"/>
                </a:solidFill>
                <a:latin typeface="Public Sans" pitchFamily="34" charset="0"/>
                <a:ea typeface="Public Sans" pitchFamily="34" charset="-122"/>
                <a:cs typeface="Public Sans" pitchFamily="34" charset="-120"/>
              </a:rPr>
              <a:t>Included</a:t>
            </a:r>
            <a:endParaRPr lang="en-US" sz="1300"/>
          </a:p>
        </p:txBody>
      </p:sp>
      <p:sp>
        <p:nvSpPr>
          <p:cNvPr id="29" name="Text 20"/>
          <p:cNvSpPr/>
          <p:nvPr/>
        </p:nvSpPr>
        <p:spPr>
          <a:xfrm>
            <a:off x="4754880" y="3522980"/>
            <a:ext cx="3547567" cy="619760"/>
          </a:xfrm>
          <a:prstGeom prst="rect">
            <a:avLst/>
          </a:prstGeom>
          <a:noFill/>
          <a:ln/>
        </p:spPr>
        <p:txBody>
          <a:bodyPr wrap="square" lIns="0" tIns="0" rIns="0" bIns="0" rtlCol="0" anchor="t">
            <a:normAutofit/>
          </a:bodyPr>
          <a:lstStyle/>
          <a:p>
            <a:pPr marL="0" indent="0" algn="l">
              <a:lnSpc>
                <a:spcPts val="1560"/>
              </a:lnSpc>
              <a:buNone/>
            </a:pPr>
            <a:r>
              <a:rPr lang="en-US" sz="1200">
                <a:solidFill>
                  <a:srgbClr val="1A1A1A"/>
                </a:solidFill>
                <a:latin typeface="Public Sans" pitchFamily="34" charset="0"/>
                <a:ea typeface="Public Sans" pitchFamily="34" charset="-122"/>
                <a:cs typeface="Public Sans" pitchFamily="34" charset="-120"/>
              </a:rPr>
              <a:t>Temperature sensing, automatic control, setpoint adjustment, alarm alerts, display interface</a:t>
            </a:r>
            <a:endParaRPr lang="en-US" sz="1200"/>
          </a:p>
        </p:txBody>
      </p:sp>
      <p:sp>
        <p:nvSpPr>
          <p:cNvPr id="30" name="Text 21"/>
          <p:cNvSpPr/>
          <p:nvPr/>
        </p:nvSpPr>
        <p:spPr>
          <a:xfrm>
            <a:off x="4754880" y="4193541"/>
            <a:ext cx="3547567" cy="256540"/>
          </a:xfrm>
          <a:prstGeom prst="rect">
            <a:avLst/>
          </a:prstGeom>
          <a:noFill/>
          <a:ln/>
        </p:spPr>
        <p:txBody>
          <a:bodyPr wrap="square" lIns="0" tIns="0" rIns="0" bIns="0" rtlCol="0" anchor="t">
            <a:normAutofit/>
          </a:bodyPr>
          <a:lstStyle/>
          <a:p>
            <a:pPr marL="0" indent="0" algn="l">
              <a:lnSpc>
                <a:spcPts val="1820"/>
              </a:lnSpc>
              <a:buNone/>
            </a:pPr>
            <a:r>
              <a:rPr lang="en-US" sz="1300" b="1">
                <a:solidFill>
                  <a:srgbClr val="9A3412"/>
                </a:solidFill>
                <a:latin typeface="Public Sans" pitchFamily="34" charset="0"/>
                <a:ea typeface="Public Sans" pitchFamily="34" charset="-122"/>
                <a:cs typeface="Public Sans" pitchFamily="34" charset="-120"/>
              </a:rPr>
              <a:t>Excluded (future steps)</a:t>
            </a:r>
            <a:endParaRPr lang="en-US" sz="1300"/>
          </a:p>
        </p:txBody>
      </p:sp>
      <p:sp>
        <p:nvSpPr>
          <p:cNvPr id="31" name="Text 22"/>
          <p:cNvSpPr/>
          <p:nvPr/>
        </p:nvSpPr>
        <p:spPr>
          <a:xfrm>
            <a:off x="4754880" y="4500880"/>
            <a:ext cx="3547567" cy="619760"/>
          </a:xfrm>
          <a:prstGeom prst="rect">
            <a:avLst/>
          </a:prstGeom>
          <a:noFill/>
          <a:ln/>
        </p:spPr>
        <p:txBody>
          <a:bodyPr wrap="square" lIns="0" tIns="0" rIns="0" bIns="0" rtlCol="0" anchor="t">
            <a:normAutofit/>
          </a:bodyPr>
          <a:lstStyle/>
          <a:p>
            <a:pPr marL="0" indent="0" algn="l">
              <a:lnSpc>
                <a:spcPts val="1560"/>
              </a:lnSpc>
              <a:buNone/>
            </a:pPr>
            <a:r>
              <a:rPr lang="en-US" sz="1200">
                <a:solidFill>
                  <a:srgbClr val="1A1A1A"/>
                </a:solidFill>
                <a:latin typeface="Public Sans" pitchFamily="34" charset="0"/>
                <a:ea typeface="Public Sans" pitchFamily="34" charset="-122"/>
                <a:cs typeface="Public Sans" pitchFamily="34" charset="-120"/>
              </a:rPr>
              <a:t>Humidity control, baby-movement monitoring, remote access, data logging, analytics, hospital-network / EMR integration</a:t>
            </a:r>
            <a:endParaRPr lang="en-US" sz="1200"/>
          </a:p>
        </p:txBody>
      </p:sp>
      <p:sp>
        <p:nvSpPr>
          <p:cNvPr id="32" name="Shape 23"/>
          <p:cNvSpPr/>
          <p:nvPr/>
        </p:nvSpPr>
        <p:spPr>
          <a:xfrm>
            <a:off x="8537575" y="2756536"/>
            <a:ext cx="3041650" cy="1057037"/>
          </a:xfrm>
          <a:prstGeom prst="roundRect">
            <a:avLst>
              <a:gd name="adj" fmla="val 9311"/>
            </a:avLst>
          </a:prstGeom>
          <a:solidFill>
            <a:srgbClr val="FFF4E8"/>
          </a:solidFill>
          <a:ln w="6350">
            <a:solidFill>
              <a:srgbClr val="F3C99C"/>
            </a:solidFill>
            <a:prstDash val="solid"/>
          </a:ln>
        </p:spPr>
      </p:sp>
      <p:sp>
        <p:nvSpPr>
          <p:cNvPr id="33" name="Text 24"/>
          <p:cNvSpPr/>
          <p:nvPr/>
        </p:nvSpPr>
        <p:spPr>
          <a:xfrm>
            <a:off x="8691880" y="3052604"/>
            <a:ext cx="2815031" cy="238760"/>
          </a:xfrm>
          <a:prstGeom prst="rect">
            <a:avLst/>
          </a:prstGeom>
          <a:noFill/>
          <a:ln/>
        </p:spPr>
        <p:txBody>
          <a:bodyPr wrap="square" lIns="0" tIns="0" rIns="0" bIns="0" rtlCol="0" anchor="t">
            <a:normAutofit/>
          </a:bodyPr>
          <a:lstStyle/>
          <a:p>
            <a:pPr marL="0" indent="0" algn="l">
              <a:lnSpc>
                <a:spcPts val="1680"/>
              </a:lnSpc>
              <a:buNone/>
            </a:pPr>
            <a:r>
              <a:rPr lang="en-US" sz="1200" b="1">
                <a:solidFill>
                  <a:srgbClr val="0070C0"/>
                </a:solidFill>
                <a:latin typeface="Public Sans" pitchFamily="34" charset="0"/>
                <a:ea typeface="Public Sans" pitchFamily="34" charset="-122"/>
                <a:cs typeface="Public Sans" pitchFamily="34" charset="-120"/>
              </a:rPr>
              <a:t>GitHub / Gitlab link</a:t>
            </a:r>
            <a:endParaRPr lang="en-US" sz="1200"/>
          </a:p>
        </p:txBody>
      </p:sp>
      <p:sp>
        <p:nvSpPr>
          <p:cNvPr id="34" name="Text 25"/>
          <p:cNvSpPr/>
          <p:nvPr/>
        </p:nvSpPr>
        <p:spPr>
          <a:xfrm>
            <a:off x="8691880" y="3304063"/>
            <a:ext cx="2815031" cy="238760"/>
          </a:xfrm>
          <a:prstGeom prst="rect">
            <a:avLst/>
          </a:prstGeom>
          <a:noFill/>
          <a:ln/>
        </p:spPr>
        <p:txBody>
          <a:bodyPr wrap="square" lIns="0" tIns="0" rIns="0" bIns="0" rtlCol="0" anchor="t">
            <a:normAutofit/>
          </a:bodyPr>
          <a:lstStyle/>
          <a:p>
            <a:pPr marL="0" indent="0" algn="l">
              <a:lnSpc>
                <a:spcPts val="1680"/>
              </a:lnSpc>
              <a:buNone/>
            </a:pPr>
            <a:r>
              <a:rPr lang="en-US" sz="1200">
                <a:solidFill>
                  <a:srgbClr val="B45309"/>
                </a:solidFill>
                <a:latin typeface="Public Sans" pitchFamily="34" charset="0"/>
                <a:ea typeface="Public Sans" pitchFamily="34" charset="-122"/>
                <a:cs typeface="Public Sans" pitchFamily="34" charset="-120"/>
              </a:rPr>
              <a:t>[Add repository link]</a:t>
            </a:r>
            <a:endParaRPr lang="en-US" sz="1200"/>
          </a:p>
        </p:txBody>
      </p:sp>
      <p:sp>
        <p:nvSpPr>
          <p:cNvPr id="35" name="Shape 26"/>
          <p:cNvSpPr/>
          <p:nvPr/>
        </p:nvSpPr>
        <p:spPr>
          <a:xfrm>
            <a:off x="8537575" y="3921522"/>
            <a:ext cx="3041650" cy="1057116"/>
          </a:xfrm>
          <a:prstGeom prst="roundRect">
            <a:avLst>
              <a:gd name="adj" fmla="val 9311"/>
            </a:avLst>
          </a:prstGeom>
          <a:solidFill>
            <a:srgbClr val="FFF4E8"/>
          </a:solidFill>
          <a:ln w="6350">
            <a:solidFill>
              <a:srgbClr val="F3C99C"/>
            </a:solidFill>
            <a:prstDash val="solid"/>
          </a:ln>
        </p:spPr>
      </p:sp>
      <p:sp>
        <p:nvSpPr>
          <p:cNvPr id="36" name="Text 27"/>
          <p:cNvSpPr/>
          <p:nvPr/>
        </p:nvSpPr>
        <p:spPr>
          <a:xfrm>
            <a:off x="8691880" y="4217670"/>
            <a:ext cx="2815031" cy="238760"/>
          </a:xfrm>
          <a:prstGeom prst="rect">
            <a:avLst/>
          </a:prstGeom>
          <a:noFill/>
          <a:ln/>
        </p:spPr>
        <p:txBody>
          <a:bodyPr wrap="square" lIns="0" tIns="0" rIns="0" bIns="0" rtlCol="0" anchor="t">
            <a:normAutofit/>
          </a:bodyPr>
          <a:lstStyle/>
          <a:p>
            <a:pPr marL="0" indent="0" algn="l">
              <a:lnSpc>
                <a:spcPts val="1680"/>
              </a:lnSpc>
              <a:buNone/>
            </a:pPr>
            <a:r>
              <a:rPr lang="en-US" sz="1200" b="1">
                <a:solidFill>
                  <a:srgbClr val="0070C0"/>
                </a:solidFill>
                <a:latin typeface="Public Sans" pitchFamily="34" charset="0"/>
                <a:ea typeface="Public Sans" pitchFamily="34" charset="-122"/>
                <a:cs typeface="Public Sans" pitchFamily="34" charset="-120"/>
              </a:rPr>
              <a:t>Demo Video</a:t>
            </a:r>
            <a:endParaRPr lang="en-US" sz="1200"/>
          </a:p>
        </p:txBody>
      </p:sp>
      <p:sp>
        <p:nvSpPr>
          <p:cNvPr id="37" name="Text 28"/>
          <p:cNvSpPr/>
          <p:nvPr/>
        </p:nvSpPr>
        <p:spPr>
          <a:xfrm>
            <a:off x="8691880" y="4469130"/>
            <a:ext cx="2815031" cy="238760"/>
          </a:xfrm>
          <a:prstGeom prst="rect">
            <a:avLst/>
          </a:prstGeom>
          <a:noFill/>
          <a:ln/>
        </p:spPr>
        <p:txBody>
          <a:bodyPr wrap="square" lIns="0" tIns="0" rIns="0" bIns="0" rtlCol="0" anchor="t">
            <a:normAutofit/>
          </a:bodyPr>
          <a:lstStyle/>
          <a:p>
            <a:pPr marL="0" indent="0" algn="l">
              <a:lnSpc>
                <a:spcPts val="1680"/>
              </a:lnSpc>
              <a:buNone/>
            </a:pPr>
            <a:r>
              <a:rPr lang="en-US" sz="1200">
                <a:solidFill>
                  <a:srgbClr val="B45309"/>
                </a:solidFill>
                <a:latin typeface="Public Sans" pitchFamily="34" charset="0"/>
                <a:ea typeface="Public Sans" pitchFamily="34" charset="-122"/>
                <a:cs typeface="Public Sans" pitchFamily="34" charset="-120"/>
              </a:rPr>
              <a:t>[Add video link]</a:t>
            </a:r>
            <a:endParaRPr lang="en-US" sz="1200"/>
          </a:p>
        </p:txBody>
      </p:sp>
      <p:sp>
        <p:nvSpPr>
          <p:cNvPr id="38" name="Shape 29"/>
          <p:cNvSpPr/>
          <p:nvPr/>
        </p:nvSpPr>
        <p:spPr>
          <a:xfrm>
            <a:off x="8537575" y="5086589"/>
            <a:ext cx="3041650" cy="1057037"/>
          </a:xfrm>
          <a:prstGeom prst="roundRect">
            <a:avLst>
              <a:gd name="adj" fmla="val 9311"/>
            </a:avLst>
          </a:prstGeom>
          <a:solidFill>
            <a:srgbClr val="FFF4E8"/>
          </a:solidFill>
          <a:ln w="6350">
            <a:solidFill>
              <a:srgbClr val="F3C99C"/>
            </a:solidFill>
            <a:prstDash val="solid"/>
          </a:ln>
        </p:spPr>
      </p:sp>
      <p:sp>
        <p:nvSpPr>
          <p:cNvPr id="39" name="Text 30"/>
          <p:cNvSpPr/>
          <p:nvPr/>
        </p:nvSpPr>
        <p:spPr>
          <a:xfrm>
            <a:off x="8691880" y="5382657"/>
            <a:ext cx="2815031" cy="238760"/>
          </a:xfrm>
          <a:prstGeom prst="rect">
            <a:avLst/>
          </a:prstGeom>
          <a:noFill/>
          <a:ln/>
        </p:spPr>
        <p:txBody>
          <a:bodyPr wrap="square" lIns="0" tIns="0" rIns="0" bIns="0" rtlCol="0" anchor="t">
            <a:normAutofit/>
          </a:bodyPr>
          <a:lstStyle/>
          <a:p>
            <a:pPr marL="0" indent="0" algn="l">
              <a:lnSpc>
                <a:spcPts val="1680"/>
              </a:lnSpc>
              <a:buNone/>
            </a:pPr>
            <a:r>
              <a:rPr lang="en-US" sz="1200" b="1">
                <a:solidFill>
                  <a:srgbClr val="0070C0"/>
                </a:solidFill>
                <a:latin typeface="Public Sans" pitchFamily="34" charset="0"/>
                <a:ea typeface="Public Sans" pitchFamily="34" charset="-122"/>
                <a:cs typeface="Public Sans" pitchFamily="34" charset="-120"/>
              </a:rPr>
              <a:t>Extent of usage of AI tools</a:t>
            </a:r>
            <a:endParaRPr lang="en-US" sz="1200"/>
          </a:p>
        </p:txBody>
      </p:sp>
      <p:sp>
        <p:nvSpPr>
          <p:cNvPr id="40" name="Text 31"/>
          <p:cNvSpPr/>
          <p:nvPr/>
        </p:nvSpPr>
        <p:spPr>
          <a:xfrm>
            <a:off x="8691880" y="5634117"/>
            <a:ext cx="2815031" cy="238760"/>
          </a:xfrm>
          <a:prstGeom prst="rect">
            <a:avLst/>
          </a:prstGeom>
          <a:noFill/>
          <a:ln/>
        </p:spPr>
        <p:txBody>
          <a:bodyPr wrap="square" lIns="0" tIns="0" rIns="0" bIns="0" rtlCol="0" anchor="t">
            <a:normAutofit/>
          </a:bodyPr>
          <a:lstStyle/>
          <a:p>
            <a:pPr marL="0" indent="0" algn="l">
              <a:lnSpc>
                <a:spcPts val="1680"/>
              </a:lnSpc>
              <a:buNone/>
            </a:pPr>
            <a:r>
              <a:rPr lang="en-US" sz="1200">
                <a:solidFill>
                  <a:srgbClr val="B45309"/>
                </a:solidFill>
                <a:latin typeface="Public Sans" pitchFamily="34" charset="0"/>
                <a:ea typeface="Public Sans" pitchFamily="34" charset="-122"/>
                <a:cs typeface="Public Sans" pitchFamily="34" charset="-120"/>
              </a:rPr>
              <a:t>[Describe AI tools used]</a:t>
            </a:r>
            <a:endParaRPr lang="en-US" sz="1200"/>
          </a:p>
        </p:txBody>
      </p:sp>
      <p:sp>
        <p:nvSpPr>
          <p:cNvPr id="41" name="Text 32"/>
          <p:cNvSpPr/>
          <p:nvPr/>
        </p:nvSpPr>
        <p:spPr>
          <a:xfrm>
            <a:off x="2171700" y="6339841"/>
            <a:ext cx="7848600" cy="238760"/>
          </a:xfrm>
          <a:prstGeom prst="rect">
            <a:avLst/>
          </a:prstGeom>
          <a:noFill/>
          <a:ln/>
        </p:spPr>
        <p:txBody>
          <a:bodyPr wrap="square" lIns="0" tIns="0" rIns="0" bIns="0" rtlCol="0" anchor="t">
            <a:normAutofit/>
          </a:bodyPr>
          <a:lstStyle/>
          <a:p>
            <a:pPr marL="0" indent="0" algn="ctr">
              <a:lnSpc>
                <a:spcPts val="1680"/>
              </a:lnSpc>
              <a:buNone/>
            </a:pPr>
            <a:r>
              <a:rPr lang="en-US" sz="1200">
                <a:solidFill>
                  <a:srgbClr val="1F3864"/>
                </a:solidFill>
                <a:latin typeface="Public Sans" pitchFamily="34" charset="0"/>
                <a:ea typeface="Public Sans" pitchFamily="34" charset="-122"/>
                <a:cs typeface="Public Sans" pitchFamily="34" charset="-120"/>
              </a:rPr>
              <a:t>@HSC submission- Template</a:t>
            </a:r>
            <a:endParaRPr lang="en-US" sz="1200"/>
          </a:p>
        </p:txBody>
      </p:sp>
      <p:sp>
        <p:nvSpPr>
          <p:cNvPr id="42" name="Text 33"/>
          <p:cNvSpPr/>
          <p:nvPr/>
        </p:nvSpPr>
        <p:spPr>
          <a:xfrm>
            <a:off x="11150600" y="6339841"/>
            <a:ext cx="431800" cy="238760"/>
          </a:xfrm>
          <a:prstGeom prst="rect">
            <a:avLst/>
          </a:prstGeom>
          <a:noFill/>
          <a:ln/>
        </p:spPr>
        <p:txBody>
          <a:bodyPr wrap="square" lIns="0" tIns="0" rIns="0" bIns="0" rtlCol="0" anchor="t">
            <a:normAutofit/>
          </a:bodyPr>
          <a:lstStyle/>
          <a:p>
            <a:pPr marL="0" indent="0" algn="r">
              <a:lnSpc>
                <a:spcPts val="1680"/>
              </a:lnSpc>
              <a:buNone/>
            </a:pPr>
            <a:r>
              <a:rPr lang="en-US" sz="1200">
                <a:solidFill>
                  <a:srgbClr val="6B7280"/>
                </a:solidFill>
                <a:latin typeface="Public Sans" pitchFamily="34" charset="0"/>
                <a:ea typeface="Public Sans" pitchFamily="34" charset="-122"/>
                <a:cs typeface="Public Sans" pitchFamily="34" charset="-120"/>
              </a:rPr>
              <a:t>3</a:t>
            </a:r>
            <a:endParaRPr lang="en-US" sz="12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DFDFC"/>
        </a:solidFill>
        <a:effectLst/>
      </p:bgPr>
    </p:bg>
    <p:spTree>
      <p:nvGrpSpPr>
        <p:cNvPr id="1" name=""/>
        <p:cNvGrpSpPr/>
        <p:nvPr/>
      </p:nvGrpSpPr>
      <p:grpSpPr>
        <a:xfrm>
          <a:off x="0" y="0"/>
          <a:ext cx="0" cy="0"/>
          <a:chOff x="0" y="0"/>
          <a:chExt cx="0" cy="0"/>
        </a:xfrm>
      </p:grpSpPr>
      <p:sp>
        <p:nvSpPr>
          <p:cNvPr id="2" name="Text 0"/>
          <p:cNvSpPr/>
          <p:nvPr/>
        </p:nvSpPr>
        <p:spPr>
          <a:xfrm>
            <a:off x="615950" y="336550"/>
            <a:ext cx="1511300" cy="546100"/>
          </a:xfrm>
          <a:prstGeom prst="roundRect">
            <a:avLst>
              <a:gd name="adj" fmla="val 50000"/>
            </a:avLst>
          </a:prstGeom>
          <a:gradFill rotWithShape="1">
            <a:gsLst>
              <a:gs pos="0">
                <a:srgbClr val="FFE3C7"/>
              </a:gs>
              <a:gs pos="100000">
                <a:srgbClr val="F7B27A"/>
              </a:gs>
            </a:gsLst>
            <a:lin ang="5400000" scaled="0"/>
          </a:gradFill>
          <a:ln w="12700">
            <a:solidFill>
              <a:srgbClr val="E8964F"/>
            </a:solidFill>
            <a:prstDash val="solid"/>
          </a:ln>
        </p:spPr>
        <p:txBody>
          <a:bodyPr wrap="square" lIns="0" tIns="0" rIns="0" bIns="0" rtlCol="0" anchor="ctr">
            <a:normAutofit fontScale="40000" lnSpcReduction="20000"/>
          </a:bodyPr>
          <a:lstStyle/>
          <a:p>
            <a:pPr marL="0" indent="0" algn="ctr">
              <a:lnSpc>
                <a:spcPts val="1960"/>
              </a:lnSpc>
              <a:buNone/>
            </a:pPr>
            <a:r>
              <a:rPr lang="en-US" sz="1400">
                <a:solidFill>
                  <a:srgbClr val="1A1A1A"/>
                </a:solidFill>
                <a:latin typeface="Public Sans" pitchFamily="34" charset="0"/>
              </a:rPr>
              <a:t>Incubator temperature controller</a:t>
            </a:r>
            <a:endParaRPr lang="en-US" sz="1400"/>
          </a:p>
        </p:txBody>
      </p:sp>
      <p:sp>
        <p:nvSpPr>
          <p:cNvPr id="3" name="Text 1"/>
          <p:cNvSpPr>
            <a:spLocks noGrp="1"/>
          </p:cNvSpPr>
          <p:nvPr>
            <p:ph type="title"/>
          </p:nvPr>
        </p:nvSpPr>
        <p:spPr>
          <a:xfrm>
            <a:off x="2170748" y="390525"/>
            <a:ext cx="7914005" cy="463550"/>
          </a:xfrm>
          <a:prstGeom prst="rect">
            <a:avLst/>
          </a:prstGeom>
          <a:noFill/>
          <a:ln/>
        </p:spPr>
        <p:txBody>
          <a:bodyPr wrap="square" lIns="0" tIns="0" rIns="0" bIns="0" rtlCol="0" anchor="t">
            <a:normAutofit/>
          </a:bodyPr>
          <a:lstStyle/>
          <a:p>
            <a:pPr marL="0" indent="0" algn="ctr">
              <a:lnSpc>
                <a:spcPts val="3450"/>
              </a:lnSpc>
              <a:buNone/>
            </a:pPr>
            <a:r>
              <a:rPr lang="en-US" sz="3000" b="1" i="0">
                <a:solidFill>
                  <a:srgbClr val="1F497D"/>
                </a:solidFill>
                <a:latin typeface="Public Sans" pitchFamily="34" charset="0"/>
                <a:ea typeface="Public Sans" pitchFamily="34" charset="-122"/>
                <a:cs typeface="Public Sans" pitchFamily="34" charset="-120"/>
              </a:rPr>
              <a:t>Impact Potential</a:t>
            </a:r>
            <a:endParaRPr lang="en-US" sz="3000"/>
          </a:p>
        </p:txBody>
      </p:sp>
      <p:pic>
        <p:nvPicPr>
          <p:cNvPr id="4" name="Image 0" descr="Hack for Social Cause logo"/>
          <p:cNvPicPr>
            <a:picLocks noChangeAspect="1"/>
          </p:cNvPicPr>
          <p:nvPr/>
        </p:nvPicPr>
        <p:blipFill>
          <a:blip r:embed="rId3"/>
          <a:srcRect l="-120" r="-120"/>
          <a:stretch/>
        </p:blipFill>
        <p:spPr>
          <a:xfrm>
            <a:off x="10121900" y="247650"/>
            <a:ext cx="1460500" cy="723900"/>
          </a:xfrm>
          <a:prstGeom prst="rect">
            <a:avLst/>
          </a:prstGeom>
        </p:spPr>
      </p:pic>
      <p:sp>
        <p:nvSpPr>
          <p:cNvPr id="5" name="Shape 2"/>
          <p:cNvSpPr/>
          <p:nvPr/>
        </p:nvSpPr>
        <p:spPr>
          <a:xfrm>
            <a:off x="612775" y="1120775"/>
            <a:ext cx="3549650" cy="2282190"/>
          </a:xfrm>
          <a:prstGeom prst="roundRect">
            <a:avLst>
              <a:gd name="adj" fmla="val 4313"/>
            </a:avLst>
          </a:prstGeom>
          <a:solidFill>
            <a:srgbClr val="F2F6FB"/>
          </a:solidFill>
          <a:ln w="6350">
            <a:solidFill>
              <a:srgbClr val="D6E2F0"/>
            </a:solidFill>
            <a:prstDash val="solid"/>
          </a:ln>
        </p:spPr>
      </p:sp>
      <p:sp>
        <p:nvSpPr>
          <p:cNvPr id="6" name="Text 3"/>
          <p:cNvSpPr/>
          <p:nvPr/>
        </p:nvSpPr>
        <p:spPr>
          <a:xfrm>
            <a:off x="792480" y="1275080"/>
            <a:ext cx="3285947" cy="482600"/>
          </a:xfrm>
          <a:prstGeom prst="rect">
            <a:avLst/>
          </a:prstGeom>
          <a:noFill/>
          <a:ln/>
        </p:spPr>
        <p:txBody>
          <a:bodyPr wrap="square" lIns="0" tIns="0" rIns="0" bIns="0" rtlCol="0" anchor="t">
            <a:normAutofit/>
          </a:bodyPr>
          <a:lstStyle/>
          <a:p>
            <a:pPr marL="0" indent="0" algn="l">
              <a:lnSpc>
                <a:spcPts val="1800"/>
              </a:lnSpc>
              <a:buNone/>
            </a:pPr>
            <a:r>
              <a:rPr lang="en-US" sz="1500" b="1">
                <a:solidFill>
                  <a:srgbClr val="0070C0"/>
                </a:solidFill>
                <a:latin typeface="Public Sans" pitchFamily="34" charset="0"/>
                <a:ea typeface="Public Sans" pitchFamily="34" charset="-122"/>
                <a:cs typeface="Public Sans" pitchFamily="34" charset="-120"/>
              </a:rPr>
              <a:t>Potential impact on the target audience</a:t>
            </a:r>
            <a:endParaRPr lang="en-US" sz="1500"/>
          </a:p>
        </p:txBody>
      </p:sp>
      <p:sp>
        <p:nvSpPr>
          <p:cNvPr id="7" name="Text 4"/>
          <p:cNvSpPr/>
          <p:nvPr/>
        </p:nvSpPr>
        <p:spPr>
          <a:xfrm>
            <a:off x="897636" y="1808480"/>
            <a:ext cx="3173171" cy="1465580"/>
          </a:xfrm>
          <a:prstGeom prst="rect">
            <a:avLst/>
          </a:prstGeom>
          <a:noFill/>
          <a:ln/>
        </p:spPr>
        <p:txBody>
          <a:bodyPr wrap="square" lIns="0" tIns="0" rIns="0" bIns="0" rtlCol="0" anchor="t">
            <a:normAutofit/>
          </a:bodyPr>
          <a:lstStyle/>
          <a:p>
            <a:pPr marL="148844" indent="-148844" algn="l">
              <a:lnSpc>
                <a:spcPts val="1620"/>
              </a:lnSpc>
              <a:buSzPct val="100000"/>
              <a:buChar char="•"/>
            </a:pPr>
            <a:r>
              <a:rPr lang="en-US" sz="1200" b="1">
                <a:solidFill>
                  <a:srgbClr val="1A1A1A"/>
                </a:solidFill>
                <a:latin typeface="Public Sans" pitchFamily="34" charset="0"/>
                <a:ea typeface="Public Sans" pitchFamily="34" charset="-122"/>
                <a:cs typeface="Public Sans" pitchFamily="34" charset="-120"/>
              </a:rPr>
              <a:t>Premature &amp; ill infants:</a:t>
            </a:r>
            <a:r>
              <a:rPr lang="en-US" sz="1200">
                <a:solidFill>
                  <a:srgbClr val="1A1A1A"/>
                </a:solidFill>
                <a:latin typeface="Public Sans" pitchFamily="34" charset="0"/>
                <a:ea typeface="Public Sans" pitchFamily="34" charset="-122"/>
                <a:cs typeface="Public Sans" pitchFamily="34" charset="-120"/>
              </a:rPr>
              <a:t> safe, stable environment</a:t>
            </a:r>
            <a:endParaRPr lang="en-US" sz="1200"/>
          </a:p>
          <a:p>
            <a:pPr marL="148844" indent="-148844" algn="l">
              <a:lnSpc>
                <a:spcPts val="1620"/>
              </a:lnSpc>
              <a:buSzPct val="100000"/>
              <a:buChar char="•"/>
            </a:pPr>
            <a:r>
              <a:rPr lang="en-US" sz="1200" b="1">
                <a:solidFill>
                  <a:srgbClr val="1A1A1A"/>
                </a:solidFill>
                <a:latin typeface="Public Sans" pitchFamily="34" charset="0"/>
                <a:ea typeface="Public Sans" pitchFamily="34" charset="-122"/>
                <a:cs typeface="Public Sans" pitchFamily="34" charset="-120"/>
              </a:rPr>
              <a:t>Parents:</a:t>
            </a:r>
            <a:r>
              <a:rPr lang="en-US" sz="1200">
                <a:solidFill>
                  <a:srgbClr val="1A1A1A"/>
                </a:solidFill>
                <a:latin typeface="Public Sans" pitchFamily="34" charset="0"/>
                <a:ea typeface="Public Sans" pitchFamily="34" charset="-122"/>
                <a:cs typeface="Public Sans" pitchFamily="34" charset="-120"/>
              </a:rPr>
              <a:t> less stress, reassurance</a:t>
            </a:r>
            <a:endParaRPr lang="en-US" sz="1200"/>
          </a:p>
          <a:p>
            <a:pPr marL="148844" indent="-148844" algn="l">
              <a:lnSpc>
                <a:spcPts val="1620"/>
              </a:lnSpc>
              <a:buSzPct val="100000"/>
              <a:buChar char="•"/>
            </a:pPr>
            <a:r>
              <a:rPr lang="en-US" sz="1200" b="1">
                <a:solidFill>
                  <a:srgbClr val="1A1A1A"/>
                </a:solidFill>
                <a:latin typeface="Public Sans" pitchFamily="34" charset="0"/>
                <a:ea typeface="Public Sans" pitchFamily="34" charset="-122"/>
                <a:cs typeface="Public Sans" pitchFamily="34" charset="-120"/>
              </a:rPr>
              <a:t>Nurses:</a:t>
            </a:r>
            <a:r>
              <a:rPr lang="en-US" sz="1200">
                <a:solidFill>
                  <a:srgbClr val="1A1A1A"/>
                </a:solidFill>
                <a:latin typeface="Public Sans" pitchFamily="34" charset="0"/>
                <a:ea typeface="Public Sans" pitchFamily="34" charset="-122"/>
                <a:cs typeface="Public Sans" pitchFamily="34" charset="-120"/>
              </a:rPr>
              <a:t> less manual monitoring, quick alerts</a:t>
            </a:r>
            <a:endParaRPr lang="en-US" sz="1200"/>
          </a:p>
          <a:p>
            <a:pPr marL="148844" indent="-148844" algn="l">
              <a:lnSpc>
                <a:spcPts val="1620"/>
              </a:lnSpc>
              <a:buSzPct val="100000"/>
              <a:buChar char="•"/>
            </a:pPr>
            <a:r>
              <a:rPr lang="en-US" sz="1200" b="1">
                <a:solidFill>
                  <a:srgbClr val="1A1A1A"/>
                </a:solidFill>
                <a:latin typeface="Public Sans" pitchFamily="34" charset="0"/>
                <a:ea typeface="Public Sans" pitchFamily="34" charset="-122"/>
                <a:cs typeface="Public Sans" pitchFamily="34" charset="-120"/>
              </a:rPr>
              <a:t>Hospitals:</a:t>
            </a:r>
            <a:r>
              <a:rPr lang="en-US" sz="1200">
                <a:solidFill>
                  <a:srgbClr val="1A1A1A"/>
                </a:solidFill>
                <a:latin typeface="Public Sans" pitchFamily="34" charset="0"/>
                <a:ea typeface="Public Sans" pitchFamily="34" charset="-122"/>
                <a:cs typeface="Public Sans" pitchFamily="34" charset="-120"/>
              </a:rPr>
              <a:t> affordable, advanced incubators</a:t>
            </a:r>
            <a:endParaRPr lang="en-US" sz="1200"/>
          </a:p>
        </p:txBody>
      </p:sp>
      <p:sp>
        <p:nvSpPr>
          <p:cNvPr id="8" name="Shape 5"/>
          <p:cNvSpPr/>
          <p:nvPr/>
        </p:nvSpPr>
        <p:spPr>
          <a:xfrm>
            <a:off x="4321175" y="1120775"/>
            <a:ext cx="3549650" cy="2282190"/>
          </a:xfrm>
          <a:prstGeom prst="roundRect">
            <a:avLst>
              <a:gd name="adj" fmla="val 4313"/>
            </a:avLst>
          </a:prstGeom>
          <a:solidFill>
            <a:srgbClr val="F2F6FB"/>
          </a:solidFill>
          <a:ln w="6350">
            <a:solidFill>
              <a:srgbClr val="D6E2F0"/>
            </a:solidFill>
            <a:prstDash val="solid"/>
          </a:ln>
        </p:spPr>
      </p:sp>
      <p:sp>
        <p:nvSpPr>
          <p:cNvPr id="9" name="Text 6"/>
          <p:cNvSpPr/>
          <p:nvPr/>
        </p:nvSpPr>
        <p:spPr>
          <a:xfrm>
            <a:off x="4500880" y="1275080"/>
            <a:ext cx="3285947" cy="254000"/>
          </a:xfrm>
          <a:prstGeom prst="rect">
            <a:avLst/>
          </a:prstGeom>
          <a:noFill/>
          <a:ln/>
        </p:spPr>
        <p:txBody>
          <a:bodyPr wrap="square" lIns="0" tIns="0" rIns="0" bIns="0" rtlCol="0" anchor="t">
            <a:normAutofit/>
          </a:bodyPr>
          <a:lstStyle/>
          <a:p>
            <a:pPr marL="0" indent="0" algn="l">
              <a:lnSpc>
                <a:spcPts val="1800"/>
              </a:lnSpc>
              <a:buNone/>
            </a:pPr>
            <a:r>
              <a:rPr lang="en-US" sz="1500" b="1">
                <a:solidFill>
                  <a:srgbClr val="0070C0"/>
                </a:solidFill>
                <a:latin typeface="Public Sans" pitchFamily="34" charset="0"/>
                <a:ea typeface="Public Sans" pitchFamily="34" charset="-122"/>
                <a:cs typeface="Public Sans" pitchFamily="34" charset="-120"/>
              </a:rPr>
              <a:t>Benefits of the solution</a:t>
            </a:r>
            <a:endParaRPr lang="en-US" sz="1500"/>
          </a:p>
        </p:txBody>
      </p:sp>
      <p:sp>
        <p:nvSpPr>
          <p:cNvPr id="10" name="Text 7"/>
          <p:cNvSpPr/>
          <p:nvPr/>
        </p:nvSpPr>
        <p:spPr>
          <a:xfrm>
            <a:off x="4606036" y="1579880"/>
            <a:ext cx="3173171" cy="1671320"/>
          </a:xfrm>
          <a:prstGeom prst="rect">
            <a:avLst/>
          </a:prstGeom>
          <a:noFill/>
          <a:ln/>
        </p:spPr>
        <p:txBody>
          <a:bodyPr wrap="square" lIns="0" tIns="0" rIns="0" bIns="0" rtlCol="0" anchor="t">
            <a:normAutofit/>
          </a:bodyPr>
          <a:lstStyle/>
          <a:p>
            <a:pPr marL="148844" indent="-148844" algn="l">
              <a:lnSpc>
                <a:spcPts val="1620"/>
              </a:lnSpc>
              <a:buSzPct val="100000"/>
              <a:buChar char="•"/>
            </a:pPr>
            <a:r>
              <a:rPr lang="en-US" sz="1200" b="1">
                <a:solidFill>
                  <a:srgbClr val="1A1A1A"/>
                </a:solidFill>
                <a:latin typeface="Public Sans" pitchFamily="34" charset="0"/>
                <a:ea typeface="Public Sans" pitchFamily="34" charset="-122"/>
                <a:cs typeface="Public Sans" pitchFamily="34" charset="-120"/>
              </a:rPr>
              <a:t>Functional:</a:t>
            </a:r>
            <a:r>
              <a:rPr lang="en-US" sz="1200">
                <a:solidFill>
                  <a:srgbClr val="1A1A1A"/>
                </a:solidFill>
                <a:latin typeface="Public Sans" pitchFamily="34" charset="0"/>
                <a:ea typeface="Public Sans" pitchFamily="34" charset="-122"/>
                <a:cs typeface="Public Sans" pitchFamily="34" charset="-120"/>
              </a:rPr>
              <a:t> safer infants, real-time alerts, UV hygiene</a:t>
            </a:r>
            <a:endParaRPr lang="en-US" sz="1200"/>
          </a:p>
          <a:p>
            <a:pPr marL="148844" indent="-148844" algn="l">
              <a:lnSpc>
                <a:spcPts val="1620"/>
              </a:lnSpc>
              <a:buSzPct val="100000"/>
              <a:buChar char="•"/>
            </a:pPr>
            <a:r>
              <a:rPr lang="en-US" sz="1200" b="1">
                <a:solidFill>
                  <a:srgbClr val="1A1A1A"/>
                </a:solidFill>
                <a:latin typeface="Public Sans" pitchFamily="34" charset="0"/>
                <a:ea typeface="Public Sans" pitchFamily="34" charset="-122"/>
                <a:cs typeface="Public Sans" pitchFamily="34" charset="-120"/>
              </a:rPr>
              <a:t>Emotional:</a:t>
            </a:r>
            <a:r>
              <a:rPr lang="en-US" sz="1200">
                <a:solidFill>
                  <a:srgbClr val="1A1A1A"/>
                </a:solidFill>
                <a:latin typeface="Public Sans" pitchFamily="34" charset="0"/>
                <a:ea typeface="Public Sans" pitchFamily="34" charset="-122"/>
                <a:cs typeface="Public Sans" pitchFamily="34" charset="-120"/>
              </a:rPr>
              <a:t> peace of mind, confidence in care</a:t>
            </a:r>
            <a:endParaRPr lang="en-US" sz="1200"/>
          </a:p>
          <a:p>
            <a:pPr marL="148844" indent="-148844" algn="l">
              <a:lnSpc>
                <a:spcPts val="1620"/>
              </a:lnSpc>
              <a:buSzPct val="100000"/>
              <a:buChar char="•"/>
            </a:pPr>
            <a:r>
              <a:rPr lang="en-US" sz="1200" b="1">
                <a:solidFill>
                  <a:srgbClr val="1A1A1A"/>
                </a:solidFill>
                <a:latin typeface="Public Sans" pitchFamily="34" charset="0"/>
                <a:ea typeface="Public Sans" pitchFamily="34" charset="-122"/>
                <a:cs typeface="Public Sans" pitchFamily="34" charset="-120"/>
              </a:rPr>
              <a:t>Social:</a:t>
            </a:r>
            <a:r>
              <a:rPr lang="en-US" sz="1200">
                <a:solidFill>
                  <a:srgbClr val="1A1A1A"/>
                </a:solidFill>
                <a:latin typeface="Public Sans" pitchFamily="34" charset="0"/>
                <a:ea typeface="Public Sans" pitchFamily="34" charset="-122"/>
                <a:cs typeface="Public Sans" pitchFamily="34" charset="-120"/>
              </a:rPr>
              <a:t> better care quality, community &amp; home-care access</a:t>
            </a:r>
            <a:endParaRPr lang="en-US" sz="1200"/>
          </a:p>
          <a:p>
            <a:pPr marL="148844" indent="-148844" algn="l">
              <a:lnSpc>
                <a:spcPts val="1620"/>
              </a:lnSpc>
              <a:buSzPct val="100000"/>
              <a:buChar char="•"/>
            </a:pPr>
            <a:r>
              <a:rPr lang="en-US" sz="1200" b="1">
                <a:solidFill>
                  <a:srgbClr val="1A1A1A"/>
                </a:solidFill>
                <a:latin typeface="Public Sans" pitchFamily="34" charset="0"/>
                <a:ea typeface="Public Sans" pitchFamily="34" charset="-122"/>
                <a:cs typeface="Public Sans" pitchFamily="34" charset="-120"/>
              </a:rPr>
              <a:t>Economic:</a:t>
            </a:r>
            <a:r>
              <a:rPr lang="en-US" sz="1200">
                <a:solidFill>
                  <a:srgbClr val="1A1A1A"/>
                </a:solidFill>
                <a:latin typeface="Public Sans" pitchFamily="34" charset="0"/>
                <a:ea typeface="Public Sans" pitchFamily="34" charset="-122"/>
                <a:cs typeface="Public Sans" pitchFamily="34" charset="-120"/>
              </a:rPr>
              <a:t> affordable unit, ₹24 Cr obtainable market</a:t>
            </a:r>
            <a:endParaRPr lang="en-US" sz="1200"/>
          </a:p>
        </p:txBody>
      </p:sp>
      <p:sp>
        <p:nvSpPr>
          <p:cNvPr id="11" name="Shape 8"/>
          <p:cNvSpPr/>
          <p:nvPr/>
        </p:nvSpPr>
        <p:spPr>
          <a:xfrm>
            <a:off x="8029575" y="1120775"/>
            <a:ext cx="3549650" cy="2282190"/>
          </a:xfrm>
          <a:prstGeom prst="roundRect">
            <a:avLst>
              <a:gd name="adj" fmla="val 4313"/>
            </a:avLst>
          </a:prstGeom>
          <a:solidFill>
            <a:srgbClr val="F2F6FB"/>
          </a:solidFill>
          <a:ln w="6350">
            <a:solidFill>
              <a:srgbClr val="D6E2F0"/>
            </a:solidFill>
            <a:prstDash val="solid"/>
          </a:ln>
        </p:spPr>
      </p:sp>
      <p:sp>
        <p:nvSpPr>
          <p:cNvPr id="12" name="Text 9"/>
          <p:cNvSpPr/>
          <p:nvPr/>
        </p:nvSpPr>
        <p:spPr>
          <a:xfrm>
            <a:off x="8209280" y="1275080"/>
            <a:ext cx="3285947" cy="254000"/>
          </a:xfrm>
          <a:prstGeom prst="rect">
            <a:avLst/>
          </a:prstGeom>
          <a:noFill/>
          <a:ln/>
        </p:spPr>
        <p:txBody>
          <a:bodyPr wrap="square" lIns="0" tIns="0" rIns="0" bIns="0" rtlCol="0" anchor="t">
            <a:normAutofit/>
          </a:bodyPr>
          <a:lstStyle/>
          <a:p>
            <a:pPr marL="0" indent="0" algn="l">
              <a:lnSpc>
                <a:spcPts val="1800"/>
              </a:lnSpc>
              <a:buNone/>
            </a:pPr>
            <a:r>
              <a:rPr lang="en-US" sz="1500" b="1">
                <a:solidFill>
                  <a:srgbClr val="0070C0"/>
                </a:solidFill>
                <a:latin typeface="Public Sans" pitchFamily="34" charset="0"/>
                <a:ea typeface="Public Sans" pitchFamily="34" charset="-122"/>
                <a:cs typeface="Public Sans" pitchFamily="34" charset="-120"/>
              </a:rPr>
              <a:t>Stakeholders</a:t>
            </a:r>
            <a:endParaRPr lang="en-US" sz="1500"/>
          </a:p>
        </p:txBody>
      </p:sp>
      <p:sp>
        <p:nvSpPr>
          <p:cNvPr id="13" name="Text 10"/>
          <p:cNvSpPr/>
          <p:nvPr/>
        </p:nvSpPr>
        <p:spPr>
          <a:xfrm>
            <a:off x="8314436" y="1579880"/>
            <a:ext cx="3173171" cy="848360"/>
          </a:xfrm>
          <a:prstGeom prst="rect">
            <a:avLst/>
          </a:prstGeom>
          <a:noFill/>
          <a:ln/>
        </p:spPr>
        <p:txBody>
          <a:bodyPr wrap="square" lIns="0" tIns="0" rIns="0" bIns="0" rtlCol="0" anchor="t">
            <a:normAutofit/>
          </a:bodyPr>
          <a:lstStyle/>
          <a:p>
            <a:pPr marL="148844" indent="-148844" algn="l">
              <a:lnSpc>
                <a:spcPts val="1620"/>
              </a:lnSpc>
              <a:buSzPct val="100000"/>
              <a:buChar char="•"/>
            </a:pPr>
            <a:r>
              <a:rPr lang="en-US" sz="1200">
                <a:solidFill>
                  <a:srgbClr val="1A1A1A"/>
                </a:solidFill>
                <a:latin typeface="Public Sans" pitchFamily="34" charset="0"/>
                <a:ea typeface="Public Sans" pitchFamily="34" charset="-122"/>
                <a:cs typeface="Public Sans" pitchFamily="34" charset="-120"/>
              </a:rPr>
              <a:t>Newborns &amp; parents</a:t>
            </a:r>
            <a:endParaRPr lang="en-US" sz="1200"/>
          </a:p>
          <a:p>
            <a:pPr marL="148844" indent="-148844" algn="l">
              <a:lnSpc>
                <a:spcPts val="1620"/>
              </a:lnSpc>
              <a:buSzPct val="100000"/>
              <a:buChar char="•"/>
            </a:pPr>
            <a:r>
              <a:rPr lang="en-US" sz="1200">
                <a:solidFill>
                  <a:srgbClr val="1A1A1A"/>
                </a:solidFill>
                <a:latin typeface="Public Sans" pitchFamily="34" charset="0"/>
                <a:ea typeface="Public Sans" pitchFamily="34" charset="-122"/>
                <a:cs typeface="Public Sans" pitchFamily="34" charset="-120"/>
              </a:rPr>
              <a:t>Nurses, doctors &amp; medical staff</a:t>
            </a:r>
            <a:endParaRPr lang="en-US" sz="1200"/>
          </a:p>
          <a:p>
            <a:pPr marL="148844" indent="-148844" algn="l">
              <a:lnSpc>
                <a:spcPts val="1620"/>
              </a:lnSpc>
              <a:buSzPct val="100000"/>
              <a:buChar char="•"/>
            </a:pPr>
            <a:r>
              <a:rPr lang="en-US" sz="1200">
                <a:solidFill>
                  <a:srgbClr val="1A1A1A"/>
                </a:solidFill>
                <a:latin typeface="Public Sans" pitchFamily="34" charset="0"/>
                <a:ea typeface="Public Sans" pitchFamily="34" charset="-122"/>
                <a:cs typeface="Public Sans" pitchFamily="34" charset="-120"/>
              </a:rPr>
              <a:t>Hospitals, clinics &amp; home-care providers</a:t>
            </a:r>
            <a:endParaRPr lang="en-US" sz="1200"/>
          </a:p>
          <a:p>
            <a:pPr marL="148844" indent="-148844" algn="l">
              <a:lnSpc>
                <a:spcPts val="1620"/>
              </a:lnSpc>
              <a:buSzPct val="100000"/>
              <a:buChar char="•"/>
            </a:pPr>
            <a:r>
              <a:rPr lang="en-US" sz="1200">
                <a:solidFill>
                  <a:srgbClr val="1A1A1A"/>
                </a:solidFill>
                <a:latin typeface="Public Sans" pitchFamily="34" charset="0"/>
                <a:ea typeface="Public Sans" pitchFamily="34" charset="-122"/>
                <a:cs typeface="Public Sans" pitchFamily="34" charset="-120"/>
              </a:rPr>
              <a:t>Communities with limited neonatal care</a:t>
            </a:r>
            <a:endParaRPr lang="en-US" sz="1200"/>
          </a:p>
        </p:txBody>
      </p:sp>
      <p:sp>
        <p:nvSpPr>
          <p:cNvPr id="14" name="Shape 11"/>
          <p:cNvSpPr/>
          <p:nvPr/>
        </p:nvSpPr>
        <p:spPr>
          <a:xfrm>
            <a:off x="612775" y="3561716"/>
            <a:ext cx="10966450" cy="1096010"/>
          </a:xfrm>
          <a:prstGeom prst="roundRect">
            <a:avLst>
              <a:gd name="adj" fmla="val 8980"/>
            </a:avLst>
          </a:prstGeom>
          <a:solidFill>
            <a:srgbClr val="FFF4E8"/>
          </a:solidFill>
          <a:ln w="6350">
            <a:solidFill>
              <a:srgbClr val="F3C99C"/>
            </a:solidFill>
            <a:prstDash val="solid"/>
          </a:ln>
        </p:spPr>
      </p:sp>
      <p:sp>
        <p:nvSpPr>
          <p:cNvPr id="15" name="Text 12"/>
          <p:cNvSpPr/>
          <p:nvPr/>
        </p:nvSpPr>
        <p:spPr>
          <a:xfrm>
            <a:off x="792480" y="3690620"/>
            <a:ext cx="2117979" cy="254000"/>
          </a:xfrm>
          <a:prstGeom prst="rect">
            <a:avLst/>
          </a:prstGeom>
          <a:noFill/>
          <a:ln/>
        </p:spPr>
        <p:txBody>
          <a:bodyPr wrap="square" lIns="0" tIns="0" rIns="0" bIns="0" rtlCol="0" anchor="t">
            <a:normAutofit/>
          </a:bodyPr>
          <a:lstStyle/>
          <a:p>
            <a:pPr marL="0" indent="0" algn="l">
              <a:lnSpc>
                <a:spcPts val="1800"/>
              </a:lnSpc>
              <a:buNone/>
            </a:pPr>
            <a:r>
              <a:rPr lang="en-US" sz="1500" b="1">
                <a:solidFill>
                  <a:srgbClr val="B45309"/>
                </a:solidFill>
                <a:latin typeface="Public Sans" pitchFamily="34" charset="0"/>
                <a:ea typeface="Public Sans" pitchFamily="34" charset="-122"/>
                <a:cs typeface="Public Sans" pitchFamily="34" charset="-120"/>
              </a:rPr>
              <a:t>Market opportunity</a:t>
            </a:r>
            <a:endParaRPr lang="en-US" sz="1500"/>
          </a:p>
        </p:txBody>
      </p:sp>
      <p:sp>
        <p:nvSpPr>
          <p:cNvPr id="16" name="Text 13"/>
          <p:cNvSpPr/>
          <p:nvPr/>
        </p:nvSpPr>
        <p:spPr>
          <a:xfrm>
            <a:off x="6032183" y="3698241"/>
            <a:ext cx="5367338" cy="238760"/>
          </a:xfrm>
          <a:prstGeom prst="rect">
            <a:avLst/>
          </a:prstGeom>
          <a:noFill/>
          <a:ln/>
        </p:spPr>
        <p:txBody>
          <a:bodyPr wrap="square" lIns="0" tIns="0" rIns="0" bIns="0" rtlCol="0" anchor="t">
            <a:normAutofit/>
          </a:bodyPr>
          <a:lstStyle/>
          <a:p>
            <a:pPr marL="0" indent="0" algn="r">
              <a:lnSpc>
                <a:spcPts val="1680"/>
              </a:lnSpc>
              <a:buNone/>
            </a:pPr>
            <a:r>
              <a:rPr lang="en-US" sz="1200">
                <a:solidFill>
                  <a:srgbClr val="44546A"/>
                </a:solidFill>
                <a:latin typeface="Public Sans" pitchFamily="34" charset="0"/>
                <a:ea typeface="Public Sans" pitchFamily="34" charset="-122"/>
                <a:cs typeface="Public Sans" pitchFamily="34" charset="-120"/>
              </a:rPr>
              <a:t>Target: Tier 2/3 &amp; rural areas in UP, Bihar, MP, Rajasthan, Odisha</a:t>
            </a:r>
            <a:endParaRPr lang="en-US" sz="1200"/>
          </a:p>
        </p:txBody>
      </p:sp>
      <p:sp>
        <p:nvSpPr>
          <p:cNvPr id="17" name="Text 14"/>
          <p:cNvSpPr/>
          <p:nvPr/>
        </p:nvSpPr>
        <p:spPr>
          <a:xfrm>
            <a:off x="792480" y="3995420"/>
            <a:ext cx="2652827" cy="332740"/>
          </a:xfrm>
          <a:prstGeom prst="rect">
            <a:avLst/>
          </a:prstGeom>
          <a:noFill/>
          <a:ln/>
        </p:spPr>
        <p:txBody>
          <a:bodyPr wrap="square" lIns="0" tIns="0" rIns="0" bIns="0" rtlCol="0" anchor="t">
            <a:normAutofit/>
          </a:bodyPr>
          <a:lstStyle/>
          <a:p>
            <a:pPr marL="0" indent="0" algn="l">
              <a:lnSpc>
                <a:spcPts val="2420"/>
              </a:lnSpc>
              <a:buNone/>
            </a:pPr>
            <a:r>
              <a:rPr lang="en-US" sz="2200" b="1">
                <a:solidFill>
                  <a:srgbClr val="1F497D"/>
                </a:solidFill>
                <a:latin typeface="Public Sans" pitchFamily="34" charset="0"/>
                <a:ea typeface="Public Sans" pitchFamily="34" charset="-122"/>
                <a:cs typeface="Public Sans" pitchFamily="34" charset="-120"/>
              </a:rPr>
              <a:t>₹200 Cr</a:t>
            </a:r>
            <a:endParaRPr lang="en-US" sz="2200"/>
          </a:p>
        </p:txBody>
      </p:sp>
      <p:sp>
        <p:nvSpPr>
          <p:cNvPr id="18" name="Text 15"/>
          <p:cNvSpPr/>
          <p:nvPr/>
        </p:nvSpPr>
        <p:spPr>
          <a:xfrm>
            <a:off x="792480" y="4315461"/>
            <a:ext cx="2652827" cy="238760"/>
          </a:xfrm>
          <a:prstGeom prst="rect">
            <a:avLst/>
          </a:prstGeom>
          <a:noFill/>
          <a:ln/>
        </p:spPr>
        <p:txBody>
          <a:bodyPr wrap="square" lIns="0" tIns="0" rIns="0" bIns="0" rtlCol="0" anchor="t">
            <a:normAutofit/>
          </a:bodyPr>
          <a:lstStyle/>
          <a:p>
            <a:pPr marL="0" indent="0" algn="l">
              <a:lnSpc>
                <a:spcPts val="1680"/>
              </a:lnSpc>
              <a:buNone/>
            </a:pPr>
            <a:r>
              <a:rPr lang="en-US" sz="1200">
                <a:solidFill>
                  <a:srgbClr val="44546A"/>
                </a:solidFill>
                <a:latin typeface="Public Sans" pitchFamily="34" charset="0"/>
                <a:ea typeface="Public Sans" pitchFamily="34" charset="-122"/>
                <a:cs typeface="Public Sans" pitchFamily="34" charset="-120"/>
              </a:rPr>
              <a:t>TAM · 50,000 units × ₹40,000</a:t>
            </a:r>
            <a:endParaRPr lang="en-US" sz="1200"/>
          </a:p>
        </p:txBody>
      </p:sp>
      <p:sp>
        <p:nvSpPr>
          <p:cNvPr id="19" name="Text 16"/>
          <p:cNvSpPr/>
          <p:nvPr/>
        </p:nvSpPr>
        <p:spPr>
          <a:xfrm>
            <a:off x="3469640" y="3995420"/>
            <a:ext cx="2652827" cy="332740"/>
          </a:xfrm>
          <a:prstGeom prst="rect">
            <a:avLst/>
          </a:prstGeom>
          <a:noFill/>
          <a:ln/>
        </p:spPr>
        <p:txBody>
          <a:bodyPr wrap="square" lIns="0" tIns="0" rIns="0" bIns="0" rtlCol="0" anchor="t">
            <a:normAutofit/>
          </a:bodyPr>
          <a:lstStyle/>
          <a:p>
            <a:pPr marL="0" indent="0" algn="l">
              <a:lnSpc>
                <a:spcPts val="2420"/>
              </a:lnSpc>
              <a:buNone/>
            </a:pPr>
            <a:r>
              <a:rPr lang="en-US" sz="2200" b="1">
                <a:solidFill>
                  <a:srgbClr val="1F497D"/>
                </a:solidFill>
                <a:latin typeface="Public Sans" pitchFamily="34" charset="0"/>
                <a:ea typeface="Public Sans" pitchFamily="34" charset="-122"/>
                <a:cs typeface="Public Sans" pitchFamily="34" charset="-120"/>
              </a:rPr>
              <a:t>₹24 Cr</a:t>
            </a:r>
            <a:endParaRPr lang="en-US" sz="2200"/>
          </a:p>
        </p:txBody>
      </p:sp>
      <p:sp>
        <p:nvSpPr>
          <p:cNvPr id="20" name="Text 17"/>
          <p:cNvSpPr/>
          <p:nvPr/>
        </p:nvSpPr>
        <p:spPr>
          <a:xfrm>
            <a:off x="3469640" y="4315461"/>
            <a:ext cx="2652827" cy="238760"/>
          </a:xfrm>
          <a:prstGeom prst="rect">
            <a:avLst/>
          </a:prstGeom>
          <a:noFill/>
          <a:ln/>
        </p:spPr>
        <p:txBody>
          <a:bodyPr wrap="square" lIns="0" tIns="0" rIns="0" bIns="0" rtlCol="0" anchor="t">
            <a:normAutofit/>
          </a:bodyPr>
          <a:lstStyle/>
          <a:p>
            <a:pPr marL="0" indent="0" algn="l">
              <a:lnSpc>
                <a:spcPts val="1680"/>
              </a:lnSpc>
              <a:buNone/>
            </a:pPr>
            <a:r>
              <a:rPr lang="en-US" sz="1200">
                <a:solidFill>
                  <a:srgbClr val="44546A"/>
                </a:solidFill>
                <a:latin typeface="Public Sans" pitchFamily="34" charset="0"/>
                <a:ea typeface="Public Sans" pitchFamily="34" charset="-122"/>
                <a:cs typeface="Public Sans" pitchFamily="34" charset="-120"/>
              </a:rPr>
              <a:t>SAM · 6,000 units × ₹40,000</a:t>
            </a:r>
            <a:endParaRPr lang="en-US" sz="1200"/>
          </a:p>
        </p:txBody>
      </p:sp>
      <p:sp>
        <p:nvSpPr>
          <p:cNvPr id="21" name="Text 18"/>
          <p:cNvSpPr/>
          <p:nvPr/>
        </p:nvSpPr>
        <p:spPr>
          <a:xfrm>
            <a:off x="6146800" y="3995420"/>
            <a:ext cx="2652827" cy="332740"/>
          </a:xfrm>
          <a:prstGeom prst="rect">
            <a:avLst/>
          </a:prstGeom>
          <a:noFill/>
          <a:ln/>
        </p:spPr>
        <p:txBody>
          <a:bodyPr wrap="square" lIns="0" tIns="0" rIns="0" bIns="0" rtlCol="0" anchor="t">
            <a:normAutofit/>
          </a:bodyPr>
          <a:lstStyle/>
          <a:p>
            <a:pPr marL="0" indent="0" algn="l">
              <a:lnSpc>
                <a:spcPts val="2420"/>
              </a:lnSpc>
              <a:buNone/>
            </a:pPr>
            <a:r>
              <a:rPr lang="en-US" sz="2200" b="1">
                <a:solidFill>
                  <a:srgbClr val="1F497D"/>
                </a:solidFill>
                <a:latin typeface="Public Sans" pitchFamily="34" charset="0"/>
                <a:ea typeface="Public Sans" pitchFamily="34" charset="-122"/>
                <a:cs typeface="Public Sans" pitchFamily="34" charset="-120"/>
              </a:rPr>
              <a:t>₹24 Cr</a:t>
            </a:r>
            <a:endParaRPr lang="en-US" sz="2200"/>
          </a:p>
        </p:txBody>
      </p:sp>
      <p:sp>
        <p:nvSpPr>
          <p:cNvPr id="22" name="Text 19"/>
          <p:cNvSpPr/>
          <p:nvPr/>
        </p:nvSpPr>
        <p:spPr>
          <a:xfrm>
            <a:off x="6146800" y="4315461"/>
            <a:ext cx="2652827" cy="238760"/>
          </a:xfrm>
          <a:prstGeom prst="rect">
            <a:avLst/>
          </a:prstGeom>
          <a:noFill/>
          <a:ln/>
        </p:spPr>
        <p:txBody>
          <a:bodyPr wrap="square" lIns="0" tIns="0" rIns="0" bIns="0" rtlCol="0" anchor="t">
            <a:normAutofit/>
          </a:bodyPr>
          <a:lstStyle/>
          <a:p>
            <a:pPr marL="0" indent="0" algn="l">
              <a:lnSpc>
                <a:spcPts val="1680"/>
              </a:lnSpc>
              <a:buNone/>
            </a:pPr>
            <a:r>
              <a:rPr lang="en-US" sz="1200">
                <a:solidFill>
                  <a:srgbClr val="44546A"/>
                </a:solidFill>
                <a:latin typeface="Public Sans" pitchFamily="34" charset="0"/>
                <a:ea typeface="Public Sans" pitchFamily="34" charset="-122"/>
                <a:cs typeface="Public Sans" pitchFamily="34" charset="-120"/>
              </a:rPr>
              <a:t>SOM · 6,000 units × ₹40,000</a:t>
            </a:r>
            <a:endParaRPr lang="en-US" sz="1200"/>
          </a:p>
        </p:txBody>
      </p:sp>
      <p:sp>
        <p:nvSpPr>
          <p:cNvPr id="23" name="Text 20"/>
          <p:cNvSpPr/>
          <p:nvPr/>
        </p:nvSpPr>
        <p:spPr>
          <a:xfrm>
            <a:off x="8823960" y="3995420"/>
            <a:ext cx="2652827" cy="332740"/>
          </a:xfrm>
          <a:prstGeom prst="rect">
            <a:avLst/>
          </a:prstGeom>
          <a:noFill/>
          <a:ln/>
        </p:spPr>
        <p:txBody>
          <a:bodyPr wrap="square" lIns="0" tIns="0" rIns="0" bIns="0" rtlCol="0" anchor="t">
            <a:normAutofit/>
          </a:bodyPr>
          <a:lstStyle/>
          <a:p>
            <a:pPr marL="0" indent="0" algn="l">
              <a:lnSpc>
                <a:spcPts val="2420"/>
              </a:lnSpc>
              <a:buNone/>
            </a:pPr>
            <a:r>
              <a:rPr lang="en-US" sz="2200" b="1">
                <a:solidFill>
                  <a:srgbClr val="1F497D"/>
                </a:solidFill>
                <a:latin typeface="Public Sans" pitchFamily="34" charset="0"/>
                <a:ea typeface="Public Sans" pitchFamily="34" charset="-122"/>
                <a:cs typeface="Public Sans" pitchFamily="34" charset="-120"/>
              </a:rPr>
              <a:t>₹50,000</a:t>
            </a:r>
            <a:endParaRPr lang="en-US" sz="2200"/>
          </a:p>
        </p:txBody>
      </p:sp>
      <p:sp>
        <p:nvSpPr>
          <p:cNvPr id="24" name="Text 21"/>
          <p:cNvSpPr/>
          <p:nvPr/>
        </p:nvSpPr>
        <p:spPr>
          <a:xfrm>
            <a:off x="8823960" y="4315461"/>
            <a:ext cx="2652827" cy="238760"/>
          </a:xfrm>
          <a:prstGeom prst="rect">
            <a:avLst/>
          </a:prstGeom>
          <a:noFill/>
          <a:ln/>
        </p:spPr>
        <p:txBody>
          <a:bodyPr wrap="square" lIns="0" tIns="0" rIns="0" bIns="0" rtlCol="0" anchor="t">
            <a:normAutofit/>
          </a:bodyPr>
          <a:lstStyle/>
          <a:p>
            <a:pPr marL="0" indent="0" algn="l">
              <a:lnSpc>
                <a:spcPts val="1680"/>
              </a:lnSpc>
              <a:buNone/>
            </a:pPr>
            <a:r>
              <a:rPr lang="en-US" sz="1200">
                <a:solidFill>
                  <a:srgbClr val="44546A"/>
                </a:solidFill>
                <a:latin typeface="Public Sans" pitchFamily="34" charset="0"/>
                <a:ea typeface="Public Sans" pitchFamily="34" charset="-122"/>
                <a:cs typeface="Public Sans" pitchFamily="34" charset="-120"/>
              </a:rPr>
              <a:t>Price per unit · hardware + SaaS</a:t>
            </a:r>
            <a:endParaRPr lang="en-US" sz="1200"/>
          </a:p>
        </p:txBody>
      </p:sp>
      <p:sp>
        <p:nvSpPr>
          <p:cNvPr id="25" name="Shape 22"/>
          <p:cNvSpPr/>
          <p:nvPr/>
        </p:nvSpPr>
        <p:spPr>
          <a:xfrm>
            <a:off x="612775" y="4816475"/>
            <a:ext cx="3583464" cy="1327150"/>
          </a:xfrm>
          <a:prstGeom prst="roundRect">
            <a:avLst>
              <a:gd name="adj" fmla="val 7416"/>
            </a:avLst>
          </a:prstGeom>
          <a:solidFill>
            <a:srgbClr val="F2F6FB"/>
          </a:solidFill>
          <a:ln w="6350">
            <a:solidFill>
              <a:srgbClr val="D6E2F0"/>
            </a:solidFill>
            <a:prstDash val="solid"/>
          </a:ln>
        </p:spPr>
      </p:sp>
      <p:sp>
        <p:nvSpPr>
          <p:cNvPr id="26" name="Text 23"/>
          <p:cNvSpPr/>
          <p:nvPr/>
        </p:nvSpPr>
        <p:spPr>
          <a:xfrm>
            <a:off x="767080" y="4919980"/>
            <a:ext cx="3373100" cy="256540"/>
          </a:xfrm>
          <a:prstGeom prst="rect">
            <a:avLst/>
          </a:prstGeom>
          <a:noFill/>
          <a:ln/>
        </p:spPr>
        <p:txBody>
          <a:bodyPr wrap="square" lIns="0" tIns="0" rIns="0" bIns="0" rtlCol="0" anchor="t">
            <a:normAutofit/>
          </a:bodyPr>
          <a:lstStyle/>
          <a:p>
            <a:pPr marL="0" indent="0" algn="l">
              <a:lnSpc>
                <a:spcPts val="1820"/>
              </a:lnSpc>
              <a:buNone/>
            </a:pPr>
            <a:r>
              <a:rPr lang="en-US" sz="1300" b="1">
                <a:solidFill>
                  <a:srgbClr val="0070C0"/>
                </a:solidFill>
                <a:latin typeface="Public Sans" pitchFamily="34" charset="0"/>
                <a:ea typeface="Public Sans" pitchFamily="34" charset="-122"/>
                <a:cs typeface="Public Sans" pitchFamily="34" charset="-120"/>
              </a:rPr>
              <a:t>SDG – Primary</a:t>
            </a:r>
            <a:endParaRPr lang="en-US" sz="1300"/>
          </a:p>
        </p:txBody>
      </p:sp>
      <p:sp>
        <p:nvSpPr>
          <p:cNvPr id="27" name="Text 24"/>
          <p:cNvSpPr/>
          <p:nvPr/>
        </p:nvSpPr>
        <p:spPr>
          <a:xfrm>
            <a:off x="767080" y="5189220"/>
            <a:ext cx="3373100" cy="421640"/>
          </a:xfrm>
          <a:prstGeom prst="rect">
            <a:avLst/>
          </a:prstGeom>
          <a:noFill/>
          <a:ln/>
        </p:spPr>
        <p:txBody>
          <a:bodyPr wrap="square" lIns="0" tIns="0" rIns="0" bIns="0" rtlCol="0" anchor="t">
            <a:normAutofit/>
          </a:bodyPr>
          <a:lstStyle/>
          <a:p>
            <a:pPr marL="0" indent="0" algn="l">
              <a:lnSpc>
                <a:spcPts val="1560"/>
              </a:lnSpc>
              <a:buNone/>
            </a:pPr>
            <a:r>
              <a:rPr lang="en-US" sz="1200">
                <a:solidFill>
                  <a:srgbClr val="1A1A1A"/>
                </a:solidFill>
                <a:latin typeface="Public Sans" pitchFamily="34" charset="0"/>
                <a:ea typeface="Public Sans" pitchFamily="34" charset="-122"/>
                <a:cs typeface="Public Sans" pitchFamily="34" charset="-120"/>
              </a:rPr>
              <a:t>Lower neonatal mortality, universal access to healthcare technology, early-warning systems</a:t>
            </a:r>
            <a:endParaRPr lang="en-US" sz="1200"/>
          </a:p>
        </p:txBody>
      </p:sp>
      <p:sp>
        <p:nvSpPr>
          <p:cNvPr id="28" name="Shape 25"/>
          <p:cNvSpPr/>
          <p:nvPr/>
        </p:nvSpPr>
        <p:spPr>
          <a:xfrm>
            <a:off x="4304189" y="4816475"/>
            <a:ext cx="3583543" cy="1327150"/>
          </a:xfrm>
          <a:prstGeom prst="roundRect">
            <a:avLst>
              <a:gd name="adj" fmla="val 7416"/>
            </a:avLst>
          </a:prstGeom>
          <a:solidFill>
            <a:srgbClr val="F2F6FB"/>
          </a:solidFill>
          <a:ln w="6350">
            <a:solidFill>
              <a:srgbClr val="D6E2F0"/>
            </a:solidFill>
            <a:prstDash val="solid"/>
          </a:ln>
        </p:spPr>
      </p:sp>
      <p:sp>
        <p:nvSpPr>
          <p:cNvPr id="29" name="Text 26"/>
          <p:cNvSpPr/>
          <p:nvPr/>
        </p:nvSpPr>
        <p:spPr>
          <a:xfrm>
            <a:off x="4458494" y="4919980"/>
            <a:ext cx="3373181" cy="256540"/>
          </a:xfrm>
          <a:prstGeom prst="rect">
            <a:avLst/>
          </a:prstGeom>
          <a:noFill/>
          <a:ln/>
        </p:spPr>
        <p:txBody>
          <a:bodyPr wrap="square" lIns="0" tIns="0" rIns="0" bIns="0" rtlCol="0" anchor="t">
            <a:normAutofit/>
          </a:bodyPr>
          <a:lstStyle/>
          <a:p>
            <a:pPr marL="0" indent="0" algn="l">
              <a:lnSpc>
                <a:spcPts val="1820"/>
              </a:lnSpc>
              <a:buNone/>
            </a:pPr>
            <a:r>
              <a:rPr lang="en-US" sz="1300" b="1">
                <a:solidFill>
                  <a:srgbClr val="0070C0"/>
                </a:solidFill>
                <a:latin typeface="Public Sans" pitchFamily="34" charset="0"/>
                <a:ea typeface="Public Sans" pitchFamily="34" charset="-122"/>
                <a:cs typeface="Public Sans" pitchFamily="34" charset="-120"/>
              </a:rPr>
              <a:t>SDG – Secondary</a:t>
            </a:r>
            <a:endParaRPr lang="en-US" sz="1300"/>
          </a:p>
        </p:txBody>
      </p:sp>
      <p:sp>
        <p:nvSpPr>
          <p:cNvPr id="30" name="Text 27"/>
          <p:cNvSpPr/>
          <p:nvPr/>
        </p:nvSpPr>
        <p:spPr>
          <a:xfrm>
            <a:off x="4458494" y="5189220"/>
            <a:ext cx="3373181" cy="619760"/>
          </a:xfrm>
          <a:prstGeom prst="rect">
            <a:avLst/>
          </a:prstGeom>
          <a:noFill/>
          <a:ln/>
        </p:spPr>
        <p:txBody>
          <a:bodyPr wrap="square" lIns="0" tIns="0" rIns="0" bIns="0" rtlCol="0" anchor="t">
            <a:normAutofit/>
          </a:bodyPr>
          <a:lstStyle/>
          <a:p>
            <a:pPr marL="0" indent="0" algn="l">
              <a:lnSpc>
                <a:spcPts val="1560"/>
              </a:lnSpc>
              <a:buNone/>
            </a:pPr>
            <a:r>
              <a:rPr lang="en-US" sz="1200">
                <a:solidFill>
                  <a:srgbClr val="1A1A1A"/>
                </a:solidFill>
                <a:latin typeface="Public Sans" pitchFamily="34" charset="0"/>
                <a:ea typeface="Public Sans" pitchFamily="34" charset="-122"/>
                <a:cs typeface="Public Sans" pitchFamily="34" charset="-120"/>
              </a:rPr>
              <a:t>Sustainable IoT healthcare infrastructure, energy-efficient incubators, inclusive technology adoption</a:t>
            </a:r>
            <a:endParaRPr lang="en-US" sz="1200"/>
          </a:p>
        </p:txBody>
      </p:sp>
      <p:sp>
        <p:nvSpPr>
          <p:cNvPr id="31" name="Shape 28"/>
          <p:cNvSpPr/>
          <p:nvPr/>
        </p:nvSpPr>
        <p:spPr>
          <a:xfrm>
            <a:off x="7995682" y="4816475"/>
            <a:ext cx="3583543" cy="1327150"/>
          </a:xfrm>
          <a:prstGeom prst="roundRect">
            <a:avLst>
              <a:gd name="adj" fmla="val 7416"/>
            </a:avLst>
          </a:prstGeom>
          <a:solidFill>
            <a:srgbClr val="F2F6FB"/>
          </a:solidFill>
          <a:ln w="6350">
            <a:solidFill>
              <a:srgbClr val="D6E2F0"/>
            </a:solidFill>
            <a:prstDash val="solid"/>
          </a:ln>
        </p:spPr>
      </p:sp>
      <p:sp>
        <p:nvSpPr>
          <p:cNvPr id="32" name="Text 29"/>
          <p:cNvSpPr/>
          <p:nvPr/>
        </p:nvSpPr>
        <p:spPr>
          <a:xfrm>
            <a:off x="8149987" y="4919980"/>
            <a:ext cx="3373181" cy="256540"/>
          </a:xfrm>
          <a:prstGeom prst="rect">
            <a:avLst/>
          </a:prstGeom>
          <a:noFill/>
          <a:ln/>
        </p:spPr>
        <p:txBody>
          <a:bodyPr wrap="square" lIns="0" tIns="0" rIns="0" bIns="0" rtlCol="0" anchor="t">
            <a:normAutofit/>
          </a:bodyPr>
          <a:lstStyle/>
          <a:p>
            <a:pPr marL="0" indent="0" algn="l">
              <a:lnSpc>
                <a:spcPts val="1820"/>
              </a:lnSpc>
              <a:buNone/>
            </a:pPr>
            <a:r>
              <a:rPr lang="en-US" sz="1300" b="1">
                <a:solidFill>
                  <a:srgbClr val="0070C0"/>
                </a:solidFill>
                <a:latin typeface="Public Sans" pitchFamily="34" charset="0"/>
                <a:ea typeface="Public Sans" pitchFamily="34" charset="-122"/>
                <a:cs typeface="Public Sans" pitchFamily="34" charset="-120"/>
              </a:rPr>
              <a:t>SDG – Tertiary</a:t>
            </a:r>
            <a:endParaRPr lang="en-US" sz="1300"/>
          </a:p>
        </p:txBody>
      </p:sp>
      <p:sp>
        <p:nvSpPr>
          <p:cNvPr id="33" name="Text 30"/>
          <p:cNvSpPr/>
          <p:nvPr/>
        </p:nvSpPr>
        <p:spPr>
          <a:xfrm>
            <a:off x="8149987" y="5189220"/>
            <a:ext cx="3373181" cy="421640"/>
          </a:xfrm>
          <a:prstGeom prst="rect">
            <a:avLst/>
          </a:prstGeom>
          <a:noFill/>
          <a:ln/>
        </p:spPr>
        <p:txBody>
          <a:bodyPr wrap="square" lIns="0" tIns="0" rIns="0" bIns="0" rtlCol="0" anchor="t">
            <a:normAutofit/>
          </a:bodyPr>
          <a:lstStyle/>
          <a:p>
            <a:pPr marL="0" indent="0" algn="l">
              <a:lnSpc>
                <a:spcPts val="1560"/>
              </a:lnSpc>
              <a:buNone/>
            </a:pPr>
            <a:r>
              <a:rPr lang="en-US" sz="1200">
                <a:solidFill>
                  <a:srgbClr val="1A1A1A"/>
                </a:solidFill>
                <a:latin typeface="Public Sans" pitchFamily="34" charset="0"/>
                <a:ea typeface="Public Sans" pitchFamily="34" charset="-122"/>
                <a:cs typeface="Public Sans" pitchFamily="34" charset="-120"/>
              </a:rPr>
              <a:t>Energy optimisation, reusable sterilization to cut waste, stronger technical capacity</a:t>
            </a:r>
            <a:endParaRPr lang="en-US" sz="1200"/>
          </a:p>
        </p:txBody>
      </p:sp>
      <p:sp>
        <p:nvSpPr>
          <p:cNvPr id="34" name="Text 31"/>
          <p:cNvSpPr/>
          <p:nvPr/>
        </p:nvSpPr>
        <p:spPr>
          <a:xfrm>
            <a:off x="2171700" y="6339839"/>
            <a:ext cx="7848600" cy="238760"/>
          </a:xfrm>
          <a:prstGeom prst="rect">
            <a:avLst/>
          </a:prstGeom>
          <a:noFill/>
          <a:ln/>
        </p:spPr>
        <p:txBody>
          <a:bodyPr wrap="square" lIns="0" tIns="0" rIns="0" bIns="0" rtlCol="0" anchor="t">
            <a:normAutofit/>
          </a:bodyPr>
          <a:lstStyle/>
          <a:p>
            <a:pPr marL="0" indent="0" algn="ctr">
              <a:lnSpc>
                <a:spcPts val="1680"/>
              </a:lnSpc>
              <a:buNone/>
            </a:pPr>
            <a:r>
              <a:rPr lang="en-US" sz="1200">
                <a:solidFill>
                  <a:srgbClr val="1F3864"/>
                </a:solidFill>
                <a:latin typeface="Public Sans" pitchFamily="34" charset="0"/>
                <a:ea typeface="Public Sans" pitchFamily="34" charset="-122"/>
                <a:cs typeface="Public Sans" pitchFamily="34" charset="-120"/>
              </a:rPr>
              <a:t>@HSC submission- Template</a:t>
            </a:r>
            <a:endParaRPr lang="en-US" sz="1200"/>
          </a:p>
        </p:txBody>
      </p:sp>
      <p:sp>
        <p:nvSpPr>
          <p:cNvPr id="35" name="Text 32"/>
          <p:cNvSpPr/>
          <p:nvPr/>
        </p:nvSpPr>
        <p:spPr>
          <a:xfrm>
            <a:off x="11150600" y="6339839"/>
            <a:ext cx="431800" cy="238760"/>
          </a:xfrm>
          <a:prstGeom prst="rect">
            <a:avLst/>
          </a:prstGeom>
          <a:noFill/>
          <a:ln/>
        </p:spPr>
        <p:txBody>
          <a:bodyPr wrap="square" lIns="0" tIns="0" rIns="0" bIns="0" rtlCol="0" anchor="t">
            <a:normAutofit/>
          </a:bodyPr>
          <a:lstStyle/>
          <a:p>
            <a:pPr marL="0" indent="0" algn="r">
              <a:lnSpc>
                <a:spcPts val="1680"/>
              </a:lnSpc>
              <a:buNone/>
            </a:pPr>
            <a:r>
              <a:rPr lang="en-US" sz="1200">
                <a:solidFill>
                  <a:srgbClr val="6B7280"/>
                </a:solidFill>
                <a:latin typeface="Public Sans" pitchFamily="34" charset="0"/>
                <a:ea typeface="Public Sans" pitchFamily="34" charset="-122"/>
                <a:cs typeface="Public Sans" pitchFamily="34" charset="-120"/>
              </a:rPr>
              <a:t>4</a:t>
            </a:r>
            <a:endParaRPr lang="en-US" sz="12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DFDFC"/>
        </a:solidFill>
        <a:effectLst/>
      </p:bgPr>
    </p:bg>
    <p:spTree>
      <p:nvGrpSpPr>
        <p:cNvPr id="1" name=""/>
        <p:cNvGrpSpPr/>
        <p:nvPr/>
      </p:nvGrpSpPr>
      <p:grpSpPr>
        <a:xfrm>
          <a:off x="0" y="0"/>
          <a:ext cx="0" cy="0"/>
          <a:chOff x="0" y="0"/>
          <a:chExt cx="0" cy="0"/>
        </a:xfrm>
      </p:grpSpPr>
      <p:sp>
        <p:nvSpPr>
          <p:cNvPr id="2" name="Text 0"/>
          <p:cNvSpPr/>
          <p:nvPr/>
        </p:nvSpPr>
        <p:spPr>
          <a:xfrm>
            <a:off x="615950" y="336550"/>
            <a:ext cx="1511300" cy="546100"/>
          </a:xfrm>
          <a:prstGeom prst="roundRect">
            <a:avLst>
              <a:gd name="adj" fmla="val 50000"/>
            </a:avLst>
          </a:prstGeom>
          <a:gradFill rotWithShape="1">
            <a:gsLst>
              <a:gs pos="0">
                <a:srgbClr val="FFE3C7"/>
              </a:gs>
              <a:gs pos="100000">
                <a:srgbClr val="F7B27A"/>
              </a:gs>
            </a:gsLst>
            <a:lin ang="5400000" scaled="0"/>
          </a:gradFill>
          <a:ln w="12700">
            <a:solidFill>
              <a:srgbClr val="E8964F"/>
            </a:solidFill>
            <a:prstDash val="solid"/>
          </a:ln>
        </p:spPr>
        <p:txBody>
          <a:bodyPr wrap="square" lIns="0" tIns="0" rIns="0" bIns="0" rtlCol="0" anchor="ctr">
            <a:normAutofit fontScale="40000" lnSpcReduction="20000"/>
          </a:bodyPr>
          <a:lstStyle/>
          <a:p>
            <a:pPr marL="0" indent="0" algn="ctr">
              <a:lnSpc>
                <a:spcPts val="1960"/>
              </a:lnSpc>
              <a:buNone/>
            </a:pPr>
            <a:r>
              <a:rPr lang="en-US" sz="1400">
                <a:solidFill>
                  <a:srgbClr val="1A1A1A"/>
                </a:solidFill>
                <a:latin typeface="Public Sans" pitchFamily="34" charset="0"/>
              </a:rPr>
              <a:t>Incubator temperature controller</a:t>
            </a:r>
            <a:endParaRPr lang="en-US" sz="1400"/>
          </a:p>
        </p:txBody>
      </p:sp>
      <p:sp>
        <p:nvSpPr>
          <p:cNvPr id="3" name="Text 1"/>
          <p:cNvSpPr>
            <a:spLocks noGrp="1"/>
          </p:cNvSpPr>
          <p:nvPr>
            <p:ph type="title"/>
          </p:nvPr>
        </p:nvSpPr>
        <p:spPr>
          <a:xfrm>
            <a:off x="2170748" y="390525"/>
            <a:ext cx="7914005" cy="463550"/>
          </a:xfrm>
          <a:prstGeom prst="rect">
            <a:avLst/>
          </a:prstGeom>
          <a:noFill/>
          <a:ln/>
        </p:spPr>
        <p:txBody>
          <a:bodyPr wrap="square" lIns="0" tIns="0" rIns="0" bIns="0" rtlCol="0" anchor="t">
            <a:normAutofit/>
          </a:bodyPr>
          <a:lstStyle/>
          <a:p>
            <a:pPr marL="0" indent="0" algn="ctr">
              <a:lnSpc>
                <a:spcPts val="3450"/>
              </a:lnSpc>
              <a:buNone/>
            </a:pPr>
            <a:r>
              <a:rPr lang="en-US" sz="3000" b="1" i="0">
                <a:solidFill>
                  <a:srgbClr val="1F497D"/>
                </a:solidFill>
                <a:latin typeface="Public Sans" pitchFamily="34" charset="0"/>
                <a:ea typeface="Public Sans" pitchFamily="34" charset="-122"/>
                <a:cs typeface="Public Sans" pitchFamily="34" charset="-120"/>
              </a:rPr>
              <a:t>Feasibility and Risk Analysis</a:t>
            </a:r>
            <a:endParaRPr lang="en-US" sz="3000"/>
          </a:p>
        </p:txBody>
      </p:sp>
      <p:pic>
        <p:nvPicPr>
          <p:cNvPr id="4" name="Image 0" descr="Hack for Social Cause logo"/>
          <p:cNvPicPr>
            <a:picLocks noChangeAspect="1"/>
          </p:cNvPicPr>
          <p:nvPr/>
        </p:nvPicPr>
        <p:blipFill>
          <a:blip r:embed="rId3"/>
          <a:srcRect l="-120" r="-120"/>
          <a:stretch/>
        </p:blipFill>
        <p:spPr>
          <a:xfrm>
            <a:off x="10121900" y="247650"/>
            <a:ext cx="1460500" cy="723900"/>
          </a:xfrm>
          <a:prstGeom prst="rect">
            <a:avLst/>
          </a:prstGeom>
        </p:spPr>
      </p:pic>
      <p:sp>
        <p:nvSpPr>
          <p:cNvPr id="5" name="Shape 2"/>
          <p:cNvSpPr/>
          <p:nvPr/>
        </p:nvSpPr>
        <p:spPr>
          <a:xfrm>
            <a:off x="612775" y="1120775"/>
            <a:ext cx="3549650" cy="5022850"/>
          </a:xfrm>
          <a:prstGeom prst="roundRect">
            <a:avLst>
              <a:gd name="adj" fmla="val 2773"/>
            </a:avLst>
          </a:prstGeom>
          <a:solidFill>
            <a:srgbClr val="EAF6EE"/>
          </a:solidFill>
          <a:ln w="6350">
            <a:solidFill>
              <a:srgbClr val="B7DFC3"/>
            </a:solidFill>
            <a:prstDash val="solid"/>
          </a:ln>
        </p:spPr>
      </p:sp>
      <p:sp>
        <p:nvSpPr>
          <p:cNvPr id="6" name="Text 3"/>
          <p:cNvSpPr/>
          <p:nvPr/>
        </p:nvSpPr>
        <p:spPr>
          <a:xfrm>
            <a:off x="817880" y="1300482"/>
            <a:ext cx="3233623" cy="513080"/>
          </a:xfrm>
          <a:prstGeom prst="rect">
            <a:avLst/>
          </a:prstGeom>
          <a:noFill/>
          <a:ln/>
        </p:spPr>
        <p:txBody>
          <a:bodyPr wrap="square" lIns="0" tIns="0" rIns="0" bIns="0" rtlCol="0" anchor="t">
            <a:normAutofit/>
          </a:bodyPr>
          <a:lstStyle/>
          <a:p>
            <a:pPr marL="0" indent="0" algn="l">
              <a:lnSpc>
                <a:spcPts val="1920"/>
              </a:lnSpc>
              <a:buNone/>
            </a:pPr>
            <a:r>
              <a:rPr lang="en-US" sz="1600" b="1">
                <a:solidFill>
                  <a:srgbClr val="166534"/>
                </a:solidFill>
                <a:latin typeface="Public Sans" pitchFamily="34" charset="0"/>
                <a:ea typeface="Public Sans" pitchFamily="34" charset="-122"/>
                <a:cs typeface="Public Sans" pitchFamily="34" charset="-120"/>
              </a:rPr>
              <a:t>Analysis of the feasibility of the solution</a:t>
            </a:r>
            <a:endParaRPr lang="en-US" sz="1600"/>
          </a:p>
        </p:txBody>
      </p:sp>
      <p:sp>
        <p:nvSpPr>
          <p:cNvPr id="7" name="Text 4"/>
          <p:cNvSpPr/>
          <p:nvPr/>
        </p:nvSpPr>
        <p:spPr>
          <a:xfrm>
            <a:off x="915924" y="1889761"/>
            <a:ext cx="3127959" cy="2567940"/>
          </a:xfrm>
          <a:prstGeom prst="rect">
            <a:avLst/>
          </a:prstGeom>
          <a:noFill/>
          <a:ln/>
        </p:spPr>
        <p:txBody>
          <a:bodyPr wrap="square" lIns="0" tIns="0" rIns="0" bIns="0" rtlCol="0" anchor="t">
            <a:normAutofit/>
          </a:bodyPr>
          <a:lstStyle/>
          <a:p>
            <a:pPr marL="155956" indent="-155956" algn="l">
              <a:lnSpc>
                <a:spcPts val="1820"/>
              </a:lnSpc>
              <a:buSzPct val="100000"/>
              <a:buChar char="•"/>
            </a:pPr>
            <a:r>
              <a:rPr lang="en-US" sz="1300" b="1">
                <a:solidFill>
                  <a:srgbClr val="1A1A1A"/>
                </a:solidFill>
                <a:latin typeface="Public Sans" pitchFamily="34" charset="0"/>
                <a:ea typeface="Public Sans" pitchFamily="34" charset="-122"/>
                <a:cs typeface="Public Sans" pitchFamily="34" charset="-120"/>
              </a:rPr>
              <a:t>Technical:</a:t>
            </a:r>
            <a:r>
              <a:rPr lang="en-US" sz="1300">
                <a:solidFill>
                  <a:srgbClr val="1A1A1A"/>
                </a:solidFill>
                <a:latin typeface="Public Sans" pitchFamily="34" charset="0"/>
                <a:ea typeface="Public Sans" pitchFamily="34" charset="-122"/>
                <a:cs typeface="Public Sans" pitchFamily="34" charset="-120"/>
              </a:rPr>
              <a:t> proven building blocks – microcontroller, sensors, PID control</a:t>
            </a:r>
            <a:endParaRPr lang="en-US" sz="1300"/>
          </a:p>
          <a:p>
            <a:pPr marL="155956" indent="-155956" algn="l">
              <a:lnSpc>
                <a:spcPts val="1820"/>
              </a:lnSpc>
              <a:buSzPct val="100000"/>
              <a:buChar char="•"/>
            </a:pPr>
            <a:r>
              <a:rPr lang="en-US" sz="1300" b="1">
                <a:solidFill>
                  <a:srgbClr val="1A1A1A"/>
                </a:solidFill>
                <a:latin typeface="Public Sans" pitchFamily="34" charset="0"/>
                <a:ea typeface="Public Sans" pitchFamily="34" charset="-122"/>
                <a:cs typeface="Public Sans" pitchFamily="34" charset="-120"/>
              </a:rPr>
              <a:t>Prototype:</a:t>
            </a:r>
            <a:r>
              <a:rPr lang="en-US" sz="1300">
                <a:solidFill>
                  <a:srgbClr val="1A1A1A"/>
                </a:solidFill>
                <a:latin typeface="Public Sans" pitchFamily="34" charset="0"/>
                <a:ea typeface="Public Sans" pitchFamily="34" charset="-122"/>
                <a:cs typeface="Public Sans" pitchFamily="34" charset="-120"/>
              </a:rPr>
              <a:t> temperature control, setpoint, alarm and display; simulation model built</a:t>
            </a:r>
            <a:endParaRPr lang="en-US" sz="1300"/>
          </a:p>
          <a:p>
            <a:pPr marL="155956" indent="-155956" algn="l">
              <a:lnSpc>
                <a:spcPts val="1820"/>
              </a:lnSpc>
              <a:buSzPct val="100000"/>
              <a:buChar char="•"/>
            </a:pPr>
            <a:r>
              <a:rPr lang="en-US" sz="1300" b="1">
                <a:solidFill>
                  <a:srgbClr val="1A1A1A"/>
                </a:solidFill>
                <a:latin typeface="Public Sans" pitchFamily="34" charset="0"/>
                <a:ea typeface="Public Sans" pitchFamily="34" charset="-122"/>
                <a:cs typeface="Public Sans" pitchFamily="34" charset="-120"/>
              </a:rPr>
              <a:t>Market:</a:t>
            </a:r>
            <a:r>
              <a:rPr lang="en-US" sz="1300">
                <a:solidFill>
                  <a:srgbClr val="1A1A1A"/>
                </a:solidFill>
                <a:latin typeface="Public Sans" pitchFamily="34" charset="0"/>
                <a:ea typeface="Public Sans" pitchFamily="34" charset="-122"/>
                <a:cs typeface="Public Sans" pitchFamily="34" charset="-120"/>
              </a:rPr>
              <a:t> ₹24 Cr obtainable in 5 high-birth-rate states</a:t>
            </a:r>
            <a:endParaRPr lang="en-US" sz="1300"/>
          </a:p>
          <a:p>
            <a:pPr marL="155956" indent="-155956" algn="l">
              <a:lnSpc>
                <a:spcPts val="1820"/>
              </a:lnSpc>
              <a:buSzPct val="100000"/>
              <a:buChar char="•"/>
            </a:pPr>
            <a:r>
              <a:rPr lang="en-US" sz="1300" b="1">
                <a:solidFill>
                  <a:srgbClr val="1A1A1A"/>
                </a:solidFill>
                <a:latin typeface="Public Sans" pitchFamily="34" charset="0"/>
                <a:ea typeface="Public Sans" pitchFamily="34" charset="-122"/>
                <a:cs typeface="Public Sans" pitchFamily="34" charset="-120"/>
              </a:rPr>
              <a:t>Business:</a:t>
            </a:r>
            <a:r>
              <a:rPr lang="en-US" sz="1300">
                <a:solidFill>
                  <a:srgbClr val="1A1A1A"/>
                </a:solidFill>
                <a:latin typeface="Public Sans" pitchFamily="34" charset="0"/>
                <a:ea typeface="Public Sans" pitchFamily="34" charset="-122"/>
                <a:cs typeface="Public Sans" pitchFamily="34" charset="-120"/>
              </a:rPr>
              <a:t> hardware sales + SaaS model</a:t>
            </a:r>
            <a:endParaRPr lang="en-US" sz="1300"/>
          </a:p>
          <a:p>
            <a:pPr marL="155956" indent="-155956" algn="l">
              <a:lnSpc>
                <a:spcPts val="1820"/>
              </a:lnSpc>
              <a:buSzPct val="100000"/>
              <a:buChar char="•"/>
            </a:pPr>
            <a:r>
              <a:rPr lang="en-US" sz="1300" b="1">
                <a:solidFill>
                  <a:srgbClr val="1A1A1A"/>
                </a:solidFill>
                <a:latin typeface="Public Sans" pitchFamily="34" charset="0"/>
                <a:ea typeface="Public Sans" pitchFamily="34" charset="-122"/>
                <a:cs typeface="Public Sans" pitchFamily="34" charset="-120"/>
              </a:rPr>
              <a:t>Scalable:</a:t>
            </a:r>
            <a:r>
              <a:rPr lang="en-US" sz="1300">
                <a:solidFill>
                  <a:srgbClr val="1A1A1A"/>
                </a:solidFill>
                <a:latin typeface="Public Sans" pitchFamily="34" charset="0"/>
                <a:ea typeface="Public Sans" pitchFamily="34" charset="-122"/>
                <a:cs typeface="Public Sans" pitchFamily="34" charset="-120"/>
              </a:rPr>
              <a:t> hospitals, clinics, home care</a:t>
            </a:r>
            <a:endParaRPr lang="en-US" sz="1300"/>
          </a:p>
        </p:txBody>
      </p:sp>
      <p:sp>
        <p:nvSpPr>
          <p:cNvPr id="8" name="Shape 5"/>
          <p:cNvSpPr/>
          <p:nvPr/>
        </p:nvSpPr>
        <p:spPr>
          <a:xfrm>
            <a:off x="4321175" y="1120775"/>
            <a:ext cx="3549650" cy="5022850"/>
          </a:xfrm>
          <a:prstGeom prst="roundRect">
            <a:avLst>
              <a:gd name="adj" fmla="val 2773"/>
            </a:avLst>
          </a:prstGeom>
          <a:solidFill>
            <a:srgbClr val="FDEEEA"/>
          </a:solidFill>
          <a:ln w="6350">
            <a:solidFill>
              <a:srgbClr val="F0B8A8"/>
            </a:solidFill>
            <a:prstDash val="solid"/>
          </a:ln>
        </p:spPr>
      </p:sp>
      <p:sp>
        <p:nvSpPr>
          <p:cNvPr id="9" name="Text 6"/>
          <p:cNvSpPr/>
          <p:nvPr/>
        </p:nvSpPr>
        <p:spPr>
          <a:xfrm>
            <a:off x="4526280" y="1300482"/>
            <a:ext cx="3233623" cy="269240"/>
          </a:xfrm>
          <a:prstGeom prst="rect">
            <a:avLst/>
          </a:prstGeom>
          <a:noFill/>
          <a:ln/>
        </p:spPr>
        <p:txBody>
          <a:bodyPr wrap="square" lIns="0" tIns="0" rIns="0" bIns="0" rtlCol="0" anchor="t">
            <a:normAutofit/>
          </a:bodyPr>
          <a:lstStyle/>
          <a:p>
            <a:pPr marL="0" indent="0" algn="l">
              <a:lnSpc>
                <a:spcPts val="1920"/>
              </a:lnSpc>
              <a:buNone/>
            </a:pPr>
            <a:r>
              <a:rPr lang="en-US" sz="1600" b="1">
                <a:solidFill>
                  <a:srgbClr val="9A3412"/>
                </a:solidFill>
                <a:latin typeface="Public Sans" pitchFamily="34" charset="0"/>
                <a:ea typeface="Public Sans" pitchFamily="34" charset="-122"/>
                <a:cs typeface="Public Sans" pitchFamily="34" charset="-120"/>
              </a:rPr>
              <a:t>Potential challenges and risks</a:t>
            </a:r>
            <a:endParaRPr lang="en-US" sz="1600"/>
          </a:p>
        </p:txBody>
      </p:sp>
      <p:sp>
        <p:nvSpPr>
          <p:cNvPr id="10" name="Text 7"/>
          <p:cNvSpPr/>
          <p:nvPr/>
        </p:nvSpPr>
        <p:spPr>
          <a:xfrm>
            <a:off x="4575016" y="1645921"/>
            <a:ext cx="3177267" cy="1874520"/>
          </a:xfrm>
          <a:prstGeom prst="rect">
            <a:avLst/>
          </a:prstGeom>
          <a:noFill/>
          <a:ln/>
        </p:spPr>
        <p:txBody>
          <a:bodyPr wrap="square" lIns="0" tIns="0" rIns="0" bIns="0" rtlCol="0" anchor="t">
            <a:normAutofit/>
          </a:bodyPr>
          <a:lstStyle/>
          <a:p>
            <a:pPr marL="205264" indent="-205264" algn="l">
              <a:lnSpc>
                <a:spcPts val="1820"/>
              </a:lnSpc>
              <a:buSzPct val="100000"/>
              <a:buFontTx/>
              <a:buAutoNum type="arabicPeriod"/>
            </a:pPr>
            <a:r>
              <a:rPr lang="en-US" sz="1300">
                <a:solidFill>
                  <a:srgbClr val="1A1A1A"/>
                </a:solidFill>
                <a:latin typeface="Public Sans" pitchFamily="34" charset="0"/>
                <a:ea typeface="Public Sans" pitchFamily="34" charset="-122"/>
                <a:cs typeface="Public Sans" pitchFamily="34" charset="-120"/>
              </a:rPr>
              <a:t>Real hardware prototype still pending</a:t>
            </a:r>
            <a:endParaRPr lang="en-US" sz="1300"/>
          </a:p>
          <a:p>
            <a:pPr marL="205264" indent="-205264" algn="l">
              <a:lnSpc>
                <a:spcPts val="1820"/>
              </a:lnSpc>
              <a:buSzPct val="100000"/>
              <a:buFontTx/>
              <a:buAutoNum type="arabicPeriod"/>
            </a:pPr>
            <a:r>
              <a:rPr lang="en-US" sz="1300">
                <a:solidFill>
                  <a:srgbClr val="1A1A1A"/>
                </a:solidFill>
                <a:latin typeface="Public Sans" pitchFamily="34" charset="0"/>
                <a:ea typeface="Public Sans" pitchFamily="34" charset="-122"/>
                <a:cs typeface="Public Sans" pitchFamily="34" charset="-120"/>
              </a:rPr>
              <a:t>Sensor or device failure in critical care</a:t>
            </a:r>
            <a:endParaRPr lang="en-US" sz="1300"/>
          </a:p>
          <a:p>
            <a:pPr marL="205264" indent="-205264" algn="l">
              <a:lnSpc>
                <a:spcPts val="1820"/>
              </a:lnSpc>
              <a:buSzPct val="100000"/>
              <a:buFontTx/>
              <a:buAutoNum type="arabicPeriod"/>
            </a:pPr>
            <a:r>
              <a:rPr lang="en-US" sz="1300">
                <a:solidFill>
                  <a:srgbClr val="1A1A1A"/>
                </a:solidFill>
                <a:latin typeface="Public Sans" pitchFamily="34" charset="0"/>
                <a:ea typeface="Public Sans" pitchFamily="34" charset="-122"/>
                <a:cs typeface="Public Sans" pitchFamily="34" charset="-120"/>
              </a:rPr>
              <a:t>Humidity, motion, remote access and logging outside prototype scope</a:t>
            </a:r>
            <a:endParaRPr lang="en-US" sz="1300"/>
          </a:p>
          <a:p>
            <a:pPr marL="205264" indent="-205264" algn="l">
              <a:lnSpc>
                <a:spcPts val="1820"/>
              </a:lnSpc>
              <a:buSzPct val="100000"/>
              <a:buFontTx/>
              <a:buAutoNum type="arabicPeriod"/>
            </a:pPr>
            <a:r>
              <a:rPr lang="en-US" sz="1300">
                <a:solidFill>
                  <a:srgbClr val="1A1A1A"/>
                </a:solidFill>
                <a:latin typeface="Public Sans" pitchFamily="34" charset="0"/>
                <a:ea typeface="Public Sans" pitchFamily="34" charset="-122"/>
                <a:cs typeface="Public Sans" pitchFamily="34" charset="-120"/>
              </a:rPr>
              <a:t>Medical-grade validation required</a:t>
            </a:r>
            <a:endParaRPr lang="en-US" sz="1300"/>
          </a:p>
          <a:p>
            <a:pPr marL="205264" indent="-205264" algn="l">
              <a:lnSpc>
                <a:spcPts val="1820"/>
              </a:lnSpc>
              <a:buSzPct val="100000"/>
              <a:buFontTx/>
              <a:buAutoNum type="arabicPeriod"/>
            </a:pPr>
            <a:r>
              <a:rPr lang="en-US" sz="1300">
                <a:solidFill>
                  <a:srgbClr val="1A1A1A"/>
                </a:solidFill>
                <a:latin typeface="Public Sans" pitchFamily="34" charset="0"/>
                <a:ea typeface="Public Sans" pitchFamily="34" charset="-122"/>
                <a:cs typeface="Public Sans" pitchFamily="34" charset="-120"/>
              </a:rPr>
              <a:t>Cost pressure in low-resource hospitals</a:t>
            </a:r>
            <a:endParaRPr lang="en-US" sz="1300"/>
          </a:p>
        </p:txBody>
      </p:sp>
      <p:sp>
        <p:nvSpPr>
          <p:cNvPr id="11" name="Shape 8"/>
          <p:cNvSpPr/>
          <p:nvPr/>
        </p:nvSpPr>
        <p:spPr>
          <a:xfrm>
            <a:off x="8029575" y="1120775"/>
            <a:ext cx="3549650" cy="5022850"/>
          </a:xfrm>
          <a:prstGeom prst="roundRect">
            <a:avLst>
              <a:gd name="adj" fmla="val 2773"/>
            </a:avLst>
          </a:prstGeom>
          <a:solidFill>
            <a:srgbClr val="F2F6FB"/>
          </a:solidFill>
          <a:ln w="6350">
            <a:solidFill>
              <a:srgbClr val="D6E2F0"/>
            </a:solidFill>
            <a:prstDash val="solid"/>
          </a:ln>
        </p:spPr>
      </p:sp>
      <p:sp>
        <p:nvSpPr>
          <p:cNvPr id="12" name="Text 9"/>
          <p:cNvSpPr/>
          <p:nvPr/>
        </p:nvSpPr>
        <p:spPr>
          <a:xfrm>
            <a:off x="8234680" y="1300482"/>
            <a:ext cx="3233623" cy="513080"/>
          </a:xfrm>
          <a:prstGeom prst="rect">
            <a:avLst/>
          </a:prstGeom>
          <a:noFill/>
          <a:ln/>
        </p:spPr>
        <p:txBody>
          <a:bodyPr wrap="square" lIns="0" tIns="0" rIns="0" bIns="0" rtlCol="0" anchor="t">
            <a:normAutofit/>
          </a:bodyPr>
          <a:lstStyle/>
          <a:p>
            <a:pPr marL="0" indent="0" algn="l">
              <a:lnSpc>
                <a:spcPts val="1920"/>
              </a:lnSpc>
              <a:buNone/>
            </a:pPr>
            <a:r>
              <a:rPr lang="en-US" sz="1600" b="1">
                <a:solidFill>
                  <a:srgbClr val="0070C0"/>
                </a:solidFill>
                <a:latin typeface="Public Sans" pitchFamily="34" charset="0"/>
                <a:ea typeface="Public Sans" pitchFamily="34" charset="-122"/>
                <a:cs typeface="Public Sans" pitchFamily="34" charset="-120"/>
              </a:rPr>
              <a:t>Strategies for overcoming these challenges</a:t>
            </a:r>
            <a:endParaRPr lang="en-US" sz="1600"/>
          </a:p>
        </p:txBody>
      </p:sp>
      <p:sp>
        <p:nvSpPr>
          <p:cNvPr id="13" name="Text 10"/>
          <p:cNvSpPr/>
          <p:nvPr/>
        </p:nvSpPr>
        <p:spPr>
          <a:xfrm>
            <a:off x="8283417" y="1889761"/>
            <a:ext cx="3177267" cy="1874520"/>
          </a:xfrm>
          <a:prstGeom prst="rect">
            <a:avLst/>
          </a:prstGeom>
          <a:noFill/>
          <a:ln/>
        </p:spPr>
        <p:txBody>
          <a:bodyPr wrap="square" lIns="0" tIns="0" rIns="0" bIns="0" rtlCol="0" anchor="t">
            <a:normAutofit/>
          </a:bodyPr>
          <a:lstStyle/>
          <a:p>
            <a:pPr marL="205264" indent="-205264" algn="l">
              <a:lnSpc>
                <a:spcPts val="1820"/>
              </a:lnSpc>
              <a:buSzPct val="100000"/>
              <a:buFontTx/>
              <a:buAutoNum type="arabicPeriod"/>
            </a:pPr>
            <a:r>
              <a:rPr lang="en-US" sz="1300">
                <a:solidFill>
                  <a:srgbClr val="1A1A1A"/>
                </a:solidFill>
                <a:latin typeface="Public Sans" pitchFamily="34" charset="0"/>
                <a:ea typeface="Public Sans" pitchFamily="34" charset="-122"/>
                <a:cs typeface="Public Sans" pitchFamily="34" charset="-120"/>
              </a:rPr>
              <a:t>Build hardware prototype with integrated sensors and controller</a:t>
            </a:r>
            <a:endParaRPr lang="en-US" sz="1300"/>
          </a:p>
          <a:p>
            <a:pPr marL="205264" indent="-205264" algn="l">
              <a:lnSpc>
                <a:spcPts val="1820"/>
              </a:lnSpc>
              <a:buSzPct val="100000"/>
              <a:buFontTx/>
              <a:buAutoNum type="arabicPeriod"/>
            </a:pPr>
            <a:r>
              <a:rPr lang="en-US" sz="1300">
                <a:solidFill>
                  <a:srgbClr val="1A1A1A"/>
                </a:solidFill>
                <a:latin typeface="Public Sans" pitchFamily="34" charset="0"/>
                <a:ea typeface="Public Sans" pitchFamily="34" charset="-122"/>
                <a:cs typeface="Public Sans" pitchFamily="34" charset="-120"/>
              </a:rPr>
              <a:t>Add redundancy and auto-shutoff</a:t>
            </a:r>
            <a:endParaRPr lang="en-US" sz="1300"/>
          </a:p>
          <a:p>
            <a:pPr marL="205264" indent="-205264" algn="l">
              <a:lnSpc>
                <a:spcPts val="1820"/>
              </a:lnSpc>
              <a:buSzPct val="100000"/>
              <a:buFontTx/>
              <a:buAutoNum type="arabicPeriod"/>
            </a:pPr>
            <a:r>
              <a:rPr lang="en-US" sz="1300">
                <a:solidFill>
                  <a:srgbClr val="1A1A1A"/>
                </a:solidFill>
                <a:latin typeface="Public Sans" pitchFamily="34" charset="0"/>
                <a:ea typeface="Public Sans" pitchFamily="34" charset="-122"/>
                <a:cs typeface="Public Sans" pitchFamily="34" charset="-120"/>
              </a:rPr>
              <a:t>Add cloud dashboard for logging and monitoring; AI/ML for predictive control and failure detection</a:t>
            </a:r>
            <a:endParaRPr lang="en-US" sz="1300"/>
          </a:p>
          <a:p>
            <a:pPr marL="205264" indent="-205264" algn="l">
              <a:lnSpc>
                <a:spcPts val="1820"/>
              </a:lnSpc>
              <a:buSzPct val="100000"/>
              <a:buFontTx/>
              <a:buAutoNum type="arabicPeriod"/>
            </a:pPr>
            <a:r>
              <a:rPr lang="en-US" sz="1300">
                <a:solidFill>
                  <a:srgbClr val="1A1A1A"/>
                </a:solidFill>
                <a:latin typeface="Public Sans" pitchFamily="34" charset="0"/>
                <a:ea typeface="Public Sans" pitchFamily="34" charset="-122"/>
                <a:cs typeface="Public Sans" pitchFamily="34" charset="-120"/>
              </a:rPr>
              <a:t>Scale to medical-grade incubators</a:t>
            </a:r>
            <a:endParaRPr lang="en-US" sz="1300"/>
          </a:p>
          <a:p>
            <a:pPr marL="205264" indent="-205264" algn="l">
              <a:lnSpc>
                <a:spcPts val="1820"/>
              </a:lnSpc>
              <a:buSzPct val="100000"/>
              <a:buFontTx/>
              <a:buAutoNum type="arabicPeriod"/>
            </a:pPr>
            <a:r>
              <a:rPr lang="en-US" sz="1300">
                <a:solidFill>
                  <a:srgbClr val="1A1A1A"/>
                </a:solidFill>
                <a:latin typeface="Public Sans" pitchFamily="34" charset="0"/>
                <a:ea typeface="Public Sans" pitchFamily="34" charset="-122"/>
                <a:cs typeface="Public Sans" pitchFamily="34" charset="-120"/>
              </a:rPr>
              <a:t>Low-cost design; ₹50,000 per unit</a:t>
            </a:r>
            <a:endParaRPr lang="en-US" sz="1300"/>
          </a:p>
        </p:txBody>
      </p:sp>
      <p:sp>
        <p:nvSpPr>
          <p:cNvPr id="14" name="Text 11"/>
          <p:cNvSpPr/>
          <p:nvPr/>
        </p:nvSpPr>
        <p:spPr>
          <a:xfrm>
            <a:off x="2171700" y="6339839"/>
            <a:ext cx="7848600" cy="238760"/>
          </a:xfrm>
          <a:prstGeom prst="rect">
            <a:avLst/>
          </a:prstGeom>
          <a:noFill/>
          <a:ln/>
        </p:spPr>
        <p:txBody>
          <a:bodyPr wrap="square" lIns="0" tIns="0" rIns="0" bIns="0" rtlCol="0" anchor="t">
            <a:normAutofit/>
          </a:bodyPr>
          <a:lstStyle/>
          <a:p>
            <a:pPr marL="0" indent="0" algn="ctr">
              <a:lnSpc>
                <a:spcPts val="1680"/>
              </a:lnSpc>
              <a:buNone/>
            </a:pPr>
            <a:r>
              <a:rPr lang="en-US" sz="1200">
                <a:solidFill>
                  <a:srgbClr val="1F3864"/>
                </a:solidFill>
                <a:latin typeface="Public Sans" pitchFamily="34" charset="0"/>
                <a:ea typeface="Public Sans" pitchFamily="34" charset="-122"/>
                <a:cs typeface="Public Sans" pitchFamily="34" charset="-120"/>
              </a:rPr>
              <a:t>@HSC submission- Template</a:t>
            </a:r>
            <a:endParaRPr lang="en-US" sz="1200"/>
          </a:p>
        </p:txBody>
      </p:sp>
      <p:sp>
        <p:nvSpPr>
          <p:cNvPr id="15" name="Text 12"/>
          <p:cNvSpPr/>
          <p:nvPr/>
        </p:nvSpPr>
        <p:spPr>
          <a:xfrm>
            <a:off x="11150600" y="6339839"/>
            <a:ext cx="431800" cy="238760"/>
          </a:xfrm>
          <a:prstGeom prst="rect">
            <a:avLst/>
          </a:prstGeom>
          <a:noFill/>
          <a:ln/>
        </p:spPr>
        <p:txBody>
          <a:bodyPr wrap="square" lIns="0" tIns="0" rIns="0" bIns="0" rtlCol="0" anchor="t">
            <a:normAutofit/>
          </a:bodyPr>
          <a:lstStyle/>
          <a:p>
            <a:pPr marL="0" indent="0" algn="r">
              <a:lnSpc>
                <a:spcPts val="1680"/>
              </a:lnSpc>
              <a:buNone/>
            </a:pPr>
            <a:r>
              <a:rPr lang="en-US" sz="1200">
                <a:solidFill>
                  <a:srgbClr val="6B7280"/>
                </a:solidFill>
                <a:latin typeface="Public Sans" pitchFamily="34" charset="0"/>
                <a:ea typeface="Public Sans" pitchFamily="34" charset="-122"/>
                <a:cs typeface="Public Sans" pitchFamily="34" charset="-120"/>
              </a:rPr>
              <a:t>5</a:t>
            </a:r>
            <a:endParaRPr lang="en-US" sz="12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DFDFC"/>
        </a:solidFill>
        <a:effectLst/>
      </p:bgPr>
    </p:bg>
    <p:spTree>
      <p:nvGrpSpPr>
        <p:cNvPr id="1" name=""/>
        <p:cNvGrpSpPr/>
        <p:nvPr/>
      </p:nvGrpSpPr>
      <p:grpSpPr>
        <a:xfrm>
          <a:off x="0" y="0"/>
          <a:ext cx="0" cy="0"/>
          <a:chOff x="0" y="0"/>
          <a:chExt cx="0" cy="0"/>
        </a:xfrm>
      </p:grpSpPr>
      <p:sp>
        <p:nvSpPr>
          <p:cNvPr id="2" name="Text 0"/>
          <p:cNvSpPr/>
          <p:nvPr/>
        </p:nvSpPr>
        <p:spPr>
          <a:xfrm>
            <a:off x="615950" y="336550"/>
            <a:ext cx="1511300" cy="546100"/>
          </a:xfrm>
          <a:prstGeom prst="roundRect">
            <a:avLst>
              <a:gd name="adj" fmla="val 50000"/>
            </a:avLst>
          </a:prstGeom>
          <a:gradFill rotWithShape="1">
            <a:gsLst>
              <a:gs pos="0">
                <a:srgbClr val="FFE3C7"/>
              </a:gs>
              <a:gs pos="100000">
                <a:srgbClr val="F7B27A"/>
              </a:gs>
            </a:gsLst>
            <a:lin ang="5400000" scaled="0"/>
          </a:gradFill>
          <a:ln w="12700">
            <a:solidFill>
              <a:srgbClr val="E8964F"/>
            </a:solidFill>
            <a:prstDash val="solid"/>
          </a:ln>
        </p:spPr>
        <p:txBody>
          <a:bodyPr wrap="square" lIns="0" tIns="0" rIns="0" bIns="0" rtlCol="0" anchor="ctr">
            <a:normAutofit fontScale="40000" lnSpcReduction="20000"/>
          </a:bodyPr>
          <a:lstStyle/>
          <a:p>
            <a:pPr marL="0" indent="0" algn="ctr">
              <a:lnSpc>
                <a:spcPts val="1960"/>
              </a:lnSpc>
              <a:buNone/>
            </a:pPr>
            <a:r>
              <a:rPr lang="en-US" sz="1400">
                <a:solidFill>
                  <a:srgbClr val="1A1A1A"/>
                </a:solidFill>
                <a:latin typeface="Public Sans" pitchFamily="34" charset="0"/>
              </a:rPr>
              <a:t>Incubator temperature controller</a:t>
            </a:r>
            <a:endParaRPr lang="en-US" sz="1400"/>
          </a:p>
        </p:txBody>
      </p:sp>
      <p:sp>
        <p:nvSpPr>
          <p:cNvPr id="3" name="Text 1"/>
          <p:cNvSpPr>
            <a:spLocks noGrp="1"/>
          </p:cNvSpPr>
          <p:nvPr>
            <p:ph type="title"/>
          </p:nvPr>
        </p:nvSpPr>
        <p:spPr>
          <a:xfrm>
            <a:off x="2170748" y="390525"/>
            <a:ext cx="7914005" cy="463550"/>
          </a:xfrm>
          <a:prstGeom prst="rect">
            <a:avLst/>
          </a:prstGeom>
          <a:noFill/>
          <a:ln/>
        </p:spPr>
        <p:txBody>
          <a:bodyPr wrap="square" lIns="0" tIns="0" rIns="0" bIns="0" rtlCol="0" anchor="t">
            <a:normAutofit/>
          </a:bodyPr>
          <a:lstStyle/>
          <a:p>
            <a:pPr marL="0" indent="0" algn="ctr">
              <a:lnSpc>
                <a:spcPts val="3450"/>
              </a:lnSpc>
              <a:buNone/>
            </a:pPr>
            <a:r>
              <a:rPr lang="en-US" sz="3000" b="1" i="0">
                <a:solidFill>
                  <a:srgbClr val="1F497D"/>
                </a:solidFill>
                <a:latin typeface="Public Sans" pitchFamily="34" charset="0"/>
                <a:ea typeface="Public Sans" pitchFamily="34" charset="-122"/>
                <a:cs typeface="Public Sans" pitchFamily="34" charset="-120"/>
              </a:rPr>
              <a:t>Team</a:t>
            </a:r>
            <a:endParaRPr lang="en-US" sz="3000"/>
          </a:p>
        </p:txBody>
      </p:sp>
      <p:pic>
        <p:nvPicPr>
          <p:cNvPr id="4" name="Image 0" descr="Hack for Social Cause logo"/>
          <p:cNvPicPr>
            <a:picLocks noChangeAspect="1"/>
          </p:cNvPicPr>
          <p:nvPr/>
        </p:nvPicPr>
        <p:blipFill>
          <a:blip r:embed="rId3"/>
          <a:srcRect l="-120" r="-120"/>
          <a:stretch/>
        </p:blipFill>
        <p:spPr>
          <a:xfrm>
            <a:off x="10121900" y="247650"/>
            <a:ext cx="1460500" cy="723900"/>
          </a:xfrm>
          <a:prstGeom prst="rect">
            <a:avLst/>
          </a:prstGeom>
        </p:spPr>
      </p:pic>
      <p:sp>
        <p:nvSpPr>
          <p:cNvPr id="5" name="Shape 2"/>
          <p:cNvSpPr/>
          <p:nvPr/>
        </p:nvSpPr>
        <p:spPr>
          <a:xfrm>
            <a:off x="612775" y="1120775"/>
            <a:ext cx="3549650" cy="5022850"/>
          </a:xfrm>
          <a:prstGeom prst="roundRect">
            <a:avLst>
              <a:gd name="adj" fmla="val 2773"/>
            </a:avLst>
          </a:prstGeom>
          <a:solidFill>
            <a:srgbClr val="F2F6FB"/>
          </a:solidFill>
          <a:ln w="6350">
            <a:solidFill>
              <a:srgbClr val="D6E2F0"/>
            </a:solidFill>
            <a:prstDash val="solid"/>
          </a:ln>
        </p:spPr>
      </p:sp>
      <p:sp>
        <p:nvSpPr>
          <p:cNvPr id="6" name="Text 3"/>
          <p:cNvSpPr/>
          <p:nvPr/>
        </p:nvSpPr>
        <p:spPr>
          <a:xfrm>
            <a:off x="817880" y="1300482"/>
            <a:ext cx="3233623" cy="269240"/>
          </a:xfrm>
          <a:prstGeom prst="rect">
            <a:avLst/>
          </a:prstGeom>
          <a:noFill/>
          <a:ln/>
        </p:spPr>
        <p:txBody>
          <a:bodyPr wrap="square" lIns="0" tIns="0" rIns="0" bIns="0" rtlCol="0" anchor="t">
            <a:normAutofit/>
          </a:bodyPr>
          <a:lstStyle/>
          <a:p>
            <a:pPr marL="0" indent="0" algn="l">
              <a:lnSpc>
                <a:spcPts val="1920"/>
              </a:lnSpc>
              <a:buNone/>
            </a:pPr>
            <a:r>
              <a:rPr lang="en-US" sz="1600" b="1">
                <a:solidFill>
                  <a:srgbClr val="0070C0"/>
                </a:solidFill>
                <a:latin typeface="Public Sans" pitchFamily="34" charset="0"/>
                <a:ea typeface="Public Sans" pitchFamily="34" charset="-122"/>
                <a:cs typeface="Public Sans" pitchFamily="34" charset="-120"/>
              </a:rPr>
              <a:t>Team Composition and Roles</a:t>
            </a:r>
            <a:endParaRPr lang="en-US" sz="160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8040" y="1656081"/>
          <a:ext cx="3129280" cy="2477770"/>
        </p:xfrm>
        <a:graphic>
          <a:graphicData uri="http://schemas.openxmlformats.org/drawingml/2006/table">
            <a:tbl>
              <a:tblPr/>
              <a:tblGrid>
                <a:gridCol w="1564640">
                  <a:extLst>
                    <a:ext uri="{9D8B030D-6E8A-4147-A177-3AD203B41FA5}">
                      <a16:colId xmlns:a16="http://schemas.microsoft.com/office/drawing/2014/main" val="20000"/>
                    </a:ext>
                  </a:extLst>
                </a:gridCol>
                <a:gridCol w="1564640">
                  <a:extLst>
                    <a:ext uri="{9D8B030D-6E8A-4147-A177-3AD203B41FA5}">
                      <a16:colId xmlns:a16="http://schemas.microsoft.com/office/drawing/2014/main" val="20001"/>
                    </a:ext>
                  </a:extLst>
                </a:gridCol>
              </a:tblGrid>
              <a:tr h="356870">
                <a:tc>
                  <a:txBody>
                    <a:bodyPr/>
                    <a:lstStyle/>
                    <a:p>
                      <a:pPr marL="0" indent="0">
                        <a:lnSpc>
                          <a:spcPts val="1820"/>
                        </a:lnSpc>
                        <a:buNone/>
                      </a:pPr>
                      <a:r>
                        <a:rPr lang="en-US" sz="1300" b="1">
                          <a:solidFill>
                            <a:srgbClr val="1A1A1A"/>
                          </a:solidFill>
                          <a:latin typeface="Public Sans" pitchFamily="34" charset="0"/>
                          <a:ea typeface="Public Sans" pitchFamily="34" charset="-122"/>
                          <a:cs typeface="Public Sans" pitchFamily="34" charset="-120"/>
                        </a:rPr>
                        <a:t>Member</a:t>
                      </a:r>
                      <a:endParaRPr lang="en-US" sz="1300">
                        <a:latin typeface="Public Sans" charset="0"/>
                        <a:ea typeface="Public Sans" charset="0"/>
                        <a:cs typeface="Public Sans" charset="0"/>
                      </a:endParaRPr>
                    </a:p>
                  </a:txBody>
                  <a:tcPr marL="57785" marR="57785" marT="57785" marB="57785">
                    <a:lnL w="12700" cap="flat" cmpd="sng" algn="ctr">
                      <a:solidFill>
                        <a:srgbClr val="C1C4C8"/>
                      </a:solidFill>
                      <a:prstDash val="solid"/>
                      <a:round/>
                      <a:headEnd type="none" w="med" len="med"/>
                      <a:tailEnd type="none" w="med" len="med"/>
                    </a:lnL>
                    <a:lnR w="12700" cap="flat" cmpd="sng" algn="ctr">
                      <a:solidFill>
                        <a:srgbClr val="B3B6B9"/>
                      </a:solidFill>
                      <a:prstDash val="solid"/>
                      <a:round/>
                      <a:headEnd type="none" w="med" len="med"/>
                      <a:tailEnd type="none" w="med" len="med"/>
                    </a:lnR>
                    <a:lnT w="12700" cap="flat" cmpd="sng" algn="ctr">
                      <a:solidFill>
                        <a:srgbClr val="C1C4C8"/>
                      </a:solidFill>
                      <a:prstDash val="solid"/>
                      <a:round/>
                      <a:headEnd type="none" w="med" len="med"/>
                      <a:tailEnd type="none" w="med" len="med"/>
                    </a:lnT>
                    <a:lnB w="12700" cap="flat" cmpd="sng" algn="ctr">
                      <a:solidFill>
                        <a:srgbClr val="B3B6B9"/>
                      </a:solidFill>
                      <a:prstDash val="solid"/>
                      <a:round/>
                      <a:headEnd type="none" w="med" len="med"/>
                      <a:tailEnd type="none" w="med" len="med"/>
                    </a:lnB>
                    <a:solidFill>
                      <a:srgbClr val="E0E4E8"/>
                    </a:solidFill>
                  </a:tcPr>
                </a:tc>
                <a:tc>
                  <a:txBody>
                    <a:bodyPr/>
                    <a:lstStyle/>
                    <a:p>
                      <a:pPr marL="0" indent="0">
                        <a:lnSpc>
                          <a:spcPts val="1820"/>
                        </a:lnSpc>
                        <a:buNone/>
                      </a:pPr>
                      <a:r>
                        <a:rPr lang="en-US" sz="1300" b="1">
                          <a:solidFill>
                            <a:srgbClr val="1A1A1A"/>
                          </a:solidFill>
                          <a:latin typeface="Public Sans" pitchFamily="34" charset="0"/>
                          <a:ea typeface="Public Sans" pitchFamily="34" charset="-122"/>
                          <a:cs typeface="Public Sans" pitchFamily="34" charset="-120"/>
                        </a:rPr>
                        <a:t>Role</a:t>
                      </a:r>
                      <a:endParaRPr lang="en-US" sz="1300">
                        <a:latin typeface="Public Sans" charset="0"/>
                        <a:ea typeface="Public Sans" charset="0"/>
                        <a:cs typeface="Public Sans" charset="0"/>
                      </a:endParaRPr>
                    </a:p>
                  </a:txBody>
                  <a:tcPr marL="57785" marR="57785" marT="57785" marB="57785">
                    <a:lnL w="12700" cap="flat" cmpd="sng" algn="ctr">
                      <a:solidFill>
                        <a:srgbClr val="B3B6B9"/>
                      </a:solidFill>
                      <a:prstDash val="solid"/>
                      <a:round/>
                      <a:headEnd type="none" w="med" len="med"/>
                      <a:tailEnd type="none" w="med" len="med"/>
                    </a:lnL>
                    <a:lnR w="12700" cap="flat" cmpd="sng" algn="ctr">
                      <a:solidFill>
                        <a:srgbClr val="B3B6B9"/>
                      </a:solidFill>
                      <a:prstDash val="solid"/>
                      <a:round/>
                      <a:headEnd type="none" w="med" len="med"/>
                      <a:tailEnd type="none" w="med" len="med"/>
                    </a:lnR>
                    <a:lnT w="12700" cap="flat" cmpd="sng" algn="ctr">
                      <a:solidFill>
                        <a:srgbClr val="C1C4C8"/>
                      </a:solidFill>
                      <a:prstDash val="solid"/>
                      <a:round/>
                      <a:headEnd type="none" w="med" len="med"/>
                      <a:tailEnd type="none" w="med" len="med"/>
                    </a:lnT>
                    <a:lnB w="12700" cap="flat" cmpd="sng" algn="ctr">
                      <a:solidFill>
                        <a:srgbClr val="B3B6B9"/>
                      </a:solidFill>
                      <a:prstDash val="solid"/>
                      <a:round/>
                      <a:headEnd type="none" w="med" len="med"/>
                      <a:tailEnd type="none" w="med" len="med"/>
                    </a:lnB>
                    <a:solidFill>
                      <a:srgbClr val="E0E4E8"/>
                    </a:solidFill>
                  </a:tcPr>
                </a:tc>
                <a:extLst>
                  <a:ext uri="{0D108BD9-81ED-4DB2-BD59-A6C34878D82A}">
                    <a16:rowId xmlns:a16="http://schemas.microsoft.com/office/drawing/2014/main" val="10000"/>
                  </a:ext>
                </a:extLst>
              </a:tr>
              <a:tr h="588010">
                <a:tc>
                  <a:txBody>
                    <a:bodyPr/>
                    <a:lstStyle/>
                    <a:p>
                      <a:pPr marL="0" indent="0">
                        <a:lnSpc>
                          <a:spcPts val="1820"/>
                        </a:lnSpc>
                        <a:buNone/>
                      </a:pPr>
                      <a:r>
                        <a:rPr lang="en-US" sz="1300">
                          <a:solidFill>
                            <a:srgbClr val="B45309"/>
                          </a:solidFill>
                          <a:latin typeface="Public Sans" pitchFamily="34" charset="0"/>
                          <a:ea typeface="Public Sans" pitchFamily="34" charset="-122"/>
                          <a:cs typeface="Public Sans" pitchFamily="34" charset="-120"/>
                        </a:rPr>
                        <a:t>[Member 1]</a:t>
                      </a:r>
                      <a:endParaRPr lang="en-US" sz="1300">
                        <a:latin typeface="Public Sans" charset="0"/>
                        <a:ea typeface="Public Sans" charset="0"/>
                        <a:cs typeface="Public Sans" charset="0"/>
                      </a:endParaRPr>
                    </a:p>
                  </a:txBody>
                  <a:tcPr marL="57785" marR="57785" marT="57785" marB="57785">
                    <a:lnL w="12700" cap="flat" cmpd="sng" algn="ctr">
                      <a:solidFill>
                        <a:srgbClr val="C1C4C8"/>
                      </a:solidFill>
                      <a:prstDash val="solid"/>
                      <a:round/>
                      <a:headEnd type="none" w="med" len="med"/>
                      <a:tailEnd type="none" w="med" len="med"/>
                    </a:lnL>
                    <a:lnR w="12700" cap="flat" cmpd="sng" algn="ctr">
                      <a:solidFill>
                        <a:srgbClr val="C1C4C8"/>
                      </a:solidFill>
                      <a:prstDash val="solid"/>
                      <a:round/>
                      <a:headEnd type="none" w="med" len="med"/>
                      <a:tailEnd type="none" w="med" len="med"/>
                    </a:lnR>
                    <a:lnT w="12700" cap="flat" cmpd="sng" algn="ctr">
                      <a:solidFill>
                        <a:srgbClr val="B3B6B9"/>
                      </a:solidFill>
                      <a:prstDash val="solid"/>
                      <a:round/>
                      <a:headEnd type="none" w="med" len="med"/>
                      <a:tailEnd type="none" w="med" len="med"/>
                    </a:lnT>
                    <a:lnB w="12700" cap="flat" cmpd="sng" algn="ctr">
                      <a:solidFill>
                        <a:srgbClr val="C1C4C8"/>
                      </a:solidFill>
                      <a:prstDash val="solid"/>
                      <a:round/>
                      <a:headEnd type="none" w="med" len="med"/>
                      <a:tailEnd type="none" w="med" len="med"/>
                    </a:lnB>
                  </a:tcPr>
                </a:tc>
                <a:tc>
                  <a:txBody>
                    <a:bodyPr/>
                    <a:lstStyle/>
                    <a:p>
                      <a:pPr marL="0" indent="0">
                        <a:lnSpc>
                          <a:spcPts val="1820"/>
                        </a:lnSpc>
                        <a:buNone/>
                      </a:pPr>
                      <a:r>
                        <a:rPr lang="en-US" sz="1300">
                          <a:solidFill>
                            <a:srgbClr val="B45309"/>
                          </a:solidFill>
                          <a:latin typeface="Public Sans" pitchFamily="34" charset="0"/>
                          <a:ea typeface="Public Sans" pitchFamily="34" charset="-122"/>
                          <a:cs typeface="Public Sans" pitchFamily="34" charset="-120"/>
                        </a:rPr>
                        <a:t>[e.g., Hardware &amp; sensors]</a:t>
                      </a:r>
                      <a:endParaRPr lang="en-US" sz="1300">
                        <a:latin typeface="Public Sans" charset="0"/>
                        <a:ea typeface="Public Sans" charset="0"/>
                        <a:cs typeface="Public Sans" charset="0"/>
                      </a:endParaRPr>
                    </a:p>
                  </a:txBody>
                  <a:tcPr marL="57785" marR="57785" marT="57785" marB="57785">
                    <a:lnL w="12700" cap="flat" cmpd="sng" algn="ctr">
                      <a:solidFill>
                        <a:srgbClr val="C1C4C8"/>
                      </a:solidFill>
                      <a:prstDash val="solid"/>
                      <a:round/>
                      <a:headEnd type="none" w="med" len="med"/>
                      <a:tailEnd type="none" w="med" len="med"/>
                    </a:lnL>
                    <a:lnR w="12700" cap="flat" cmpd="sng" algn="ctr">
                      <a:solidFill>
                        <a:srgbClr val="C1C4C8"/>
                      </a:solidFill>
                      <a:prstDash val="solid"/>
                      <a:round/>
                      <a:headEnd type="none" w="med" len="med"/>
                      <a:tailEnd type="none" w="med" len="med"/>
                    </a:lnR>
                    <a:lnT w="12700" cap="flat" cmpd="sng" algn="ctr">
                      <a:solidFill>
                        <a:srgbClr val="B3B6B9"/>
                      </a:solidFill>
                      <a:prstDash val="solid"/>
                      <a:round/>
                      <a:headEnd type="none" w="med" len="med"/>
                      <a:tailEnd type="none" w="med" len="med"/>
                    </a:lnT>
                    <a:lnB w="12700" cap="flat" cmpd="sng" algn="ctr">
                      <a:solidFill>
                        <a:srgbClr val="C1C4C8"/>
                      </a:solidFill>
                      <a:prstDash val="solid"/>
                      <a:round/>
                      <a:headEnd type="none" w="med" len="med"/>
                      <a:tailEnd type="none" w="med" len="med"/>
                    </a:lnB>
                  </a:tcPr>
                </a:tc>
                <a:extLst>
                  <a:ext uri="{0D108BD9-81ED-4DB2-BD59-A6C34878D82A}">
                    <a16:rowId xmlns:a16="http://schemas.microsoft.com/office/drawing/2014/main" val="10001"/>
                  </a:ext>
                </a:extLst>
              </a:tr>
              <a:tr h="356870">
                <a:tc>
                  <a:txBody>
                    <a:bodyPr/>
                    <a:lstStyle/>
                    <a:p>
                      <a:pPr marL="0" indent="0">
                        <a:lnSpc>
                          <a:spcPts val="1820"/>
                        </a:lnSpc>
                        <a:buNone/>
                      </a:pPr>
                      <a:r>
                        <a:rPr lang="en-US" sz="1300">
                          <a:solidFill>
                            <a:srgbClr val="B45309"/>
                          </a:solidFill>
                          <a:latin typeface="Public Sans" pitchFamily="34" charset="0"/>
                          <a:ea typeface="Public Sans" pitchFamily="34" charset="-122"/>
                          <a:cs typeface="Public Sans" pitchFamily="34" charset="-120"/>
                        </a:rPr>
                        <a:t>[Member 2]</a:t>
                      </a:r>
                      <a:endParaRPr lang="en-US" sz="1300">
                        <a:latin typeface="Public Sans" charset="0"/>
                        <a:ea typeface="Public Sans" charset="0"/>
                        <a:cs typeface="Public Sans" charset="0"/>
                      </a:endParaRPr>
                    </a:p>
                  </a:txBody>
                  <a:tcPr marL="57785" marR="57785" marT="57785" marB="57785">
                    <a:lnL w="12700" cap="flat" cmpd="sng" algn="ctr">
                      <a:solidFill>
                        <a:srgbClr val="C1C4C8"/>
                      </a:solidFill>
                      <a:prstDash val="solid"/>
                      <a:round/>
                      <a:headEnd type="none" w="med" len="med"/>
                      <a:tailEnd type="none" w="med" len="med"/>
                    </a:lnL>
                    <a:lnR w="12700" cap="flat" cmpd="sng" algn="ctr">
                      <a:solidFill>
                        <a:srgbClr val="C1C4C8"/>
                      </a:solidFill>
                      <a:prstDash val="solid"/>
                      <a:round/>
                      <a:headEnd type="none" w="med" len="med"/>
                      <a:tailEnd type="none" w="med" len="med"/>
                    </a:lnR>
                    <a:lnT w="12700" cap="flat" cmpd="sng" algn="ctr">
                      <a:solidFill>
                        <a:srgbClr val="C1C4C8"/>
                      </a:solidFill>
                      <a:prstDash val="solid"/>
                      <a:round/>
                      <a:headEnd type="none" w="med" len="med"/>
                      <a:tailEnd type="none" w="med" len="med"/>
                    </a:lnT>
                    <a:lnB w="12700" cap="flat" cmpd="sng" algn="ctr">
                      <a:solidFill>
                        <a:srgbClr val="C1C4C8"/>
                      </a:solidFill>
                      <a:prstDash val="solid"/>
                      <a:round/>
                      <a:headEnd type="none" w="med" len="med"/>
                      <a:tailEnd type="none" w="med" len="med"/>
                    </a:lnB>
                  </a:tcPr>
                </a:tc>
                <a:tc>
                  <a:txBody>
                    <a:bodyPr/>
                    <a:lstStyle/>
                    <a:p>
                      <a:pPr marL="0" indent="0">
                        <a:lnSpc>
                          <a:spcPts val="1820"/>
                        </a:lnSpc>
                        <a:buNone/>
                      </a:pPr>
                      <a:r>
                        <a:rPr lang="en-US" sz="1300">
                          <a:solidFill>
                            <a:srgbClr val="B45309"/>
                          </a:solidFill>
                          <a:latin typeface="Public Sans" pitchFamily="34" charset="0"/>
                          <a:ea typeface="Public Sans" pitchFamily="34" charset="-122"/>
                          <a:cs typeface="Public Sans" pitchFamily="34" charset="-120"/>
                        </a:rPr>
                        <a:t>[e.g., PID control]</a:t>
                      </a:r>
                      <a:endParaRPr lang="en-US" sz="1300">
                        <a:latin typeface="Public Sans" charset="0"/>
                        <a:ea typeface="Public Sans" charset="0"/>
                        <a:cs typeface="Public Sans" charset="0"/>
                      </a:endParaRPr>
                    </a:p>
                  </a:txBody>
                  <a:tcPr marL="57785" marR="57785" marT="57785" marB="57785">
                    <a:lnL w="12700" cap="flat" cmpd="sng" algn="ctr">
                      <a:solidFill>
                        <a:srgbClr val="C1C4C8"/>
                      </a:solidFill>
                      <a:prstDash val="solid"/>
                      <a:round/>
                      <a:headEnd type="none" w="med" len="med"/>
                      <a:tailEnd type="none" w="med" len="med"/>
                    </a:lnL>
                    <a:lnR w="12700" cap="flat" cmpd="sng" algn="ctr">
                      <a:solidFill>
                        <a:srgbClr val="C1C4C8"/>
                      </a:solidFill>
                      <a:prstDash val="solid"/>
                      <a:round/>
                      <a:headEnd type="none" w="med" len="med"/>
                      <a:tailEnd type="none" w="med" len="med"/>
                    </a:lnR>
                    <a:lnT w="12700" cap="flat" cmpd="sng" algn="ctr">
                      <a:solidFill>
                        <a:srgbClr val="C1C4C8"/>
                      </a:solidFill>
                      <a:prstDash val="solid"/>
                      <a:round/>
                      <a:headEnd type="none" w="med" len="med"/>
                      <a:tailEnd type="none" w="med" len="med"/>
                    </a:lnT>
                    <a:lnB w="12700" cap="flat" cmpd="sng" algn="ctr">
                      <a:solidFill>
                        <a:srgbClr val="C1C4C8"/>
                      </a:solidFill>
                      <a:prstDash val="solid"/>
                      <a:round/>
                      <a:headEnd type="none" w="med" len="med"/>
                      <a:tailEnd type="none" w="med" len="med"/>
                    </a:lnB>
                  </a:tcPr>
                </a:tc>
                <a:extLst>
                  <a:ext uri="{0D108BD9-81ED-4DB2-BD59-A6C34878D82A}">
                    <a16:rowId xmlns:a16="http://schemas.microsoft.com/office/drawing/2014/main" val="10002"/>
                  </a:ext>
                </a:extLst>
              </a:tr>
              <a:tr h="588010">
                <a:tc>
                  <a:txBody>
                    <a:bodyPr/>
                    <a:lstStyle/>
                    <a:p>
                      <a:pPr marL="0" indent="0">
                        <a:lnSpc>
                          <a:spcPts val="1820"/>
                        </a:lnSpc>
                        <a:buNone/>
                      </a:pPr>
                      <a:r>
                        <a:rPr lang="en-US" sz="1300">
                          <a:solidFill>
                            <a:srgbClr val="B45309"/>
                          </a:solidFill>
                          <a:latin typeface="Public Sans" pitchFamily="34" charset="0"/>
                          <a:ea typeface="Public Sans" pitchFamily="34" charset="-122"/>
                          <a:cs typeface="Public Sans" pitchFamily="34" charset="-120"/>
                        </a:rPr>
                        <a:t>[Member 3]</a:t>
                      </a:r>
                      <a:endParaRPr lang="en-US" sz="1300">
                        <a:latin typeface="Public Sans" charset="0"/>
                        <a:ea typeface="Public Sans" charset="0"/>
                        <a:cs typeface="Public Sans" charset="0"/>
                      </a:endParaRPr>
                    </a:p>
                  </a:txBody>
                  <a:tcPr marL="57785" marR="57785" marT="57785" marB="57785">
                    <a:lnL w="12700" cap="flat" cmpd="sng" algn="ctr">
                      <a:solidFill>
                        <a:srgbClr val="C1C4C8"/>
                      </a:solidFill>
                      <a:prstDash val="solid"/>
                      <a:round/>
                      <a:headEnd type="none" w="med" len="med"/>
                      <a:tailEnd type="none" w="med" len="med"/>
                    </a:lnL>
                    <a:lnR w="12700" cap="flat" cmpd="sng" algn="ctr">
                      <a:solidFill>
                        <a:srgbClr val="C1C4C8"/>
                      </a:solidFill>
                      <a:prstDash val="solid"/>
                      <a:round/>
                      <a:headEnd type="none" w="med" len="med"/>
                      <a:tailEnd type="none" w="med" len="med"/>
                    </a:lnR>
                    <a:lnT w="12700" cap="flat" cmpd="sng" algn="ctr">
                      <a:solidFill>
                        <a:srgbClr val="C1C4C8"/>
                      </a:solidFill>
                      <a:prstDash val="solid"/>
                      <a:round/>
                      <a:headEnd type="none" w="med" len="med"/>
                      <a:tailEnd type="none" w="med" len="med"/>
                    </a:lnT>
                    <a:lnB w="12700" cap="flat" cmpd="sng" algn="ctr">
                      <a:solidFill>
                        <a:srgbClr val="C1C4C8"/>
                      </a:solidFill>
                      <a:prstDash val="solid"/>
                      <a:round/>
                      <a:headEnd type="none" w="med" len="med"/>
                      <a:tailEnd type="none" w="med" len="med"/>
                    </a:lnB>
                  </a:tcPr>
                </a:tc>
                <a:tc>
                  <a:txBody>
                    <a:bodyPr/>
                    <a:lstStyle/>
                    <a:p>
                      <a:pPr marL="0" indent="0">
                        <a:lnSpc>
                          <a:spcPts val="1820"/>
                        </a:lnSpc>
                        <a:buNone/>
                      </a:pPr>
                      <a:r>
                        <a:rPr lang="en-US" sz="1300">
                          <a:solidFill>
                            <a:srgbClr val="B45309"/>
                          </a:solidFill>
                          <a:latin typeface="Public Sans" pitchFamily="34" charset="0"/>
                          <a:ea typeface="Public Sans" pitchFamily="34" charset="-122"/>
                          <a:cs typeface="Public Sans" pitchFamily="34" charset="-120"/>
                        </a:rPr>
                        <a:t>[e.g., IoT &amp; web app]</a:t>
                      </a:r>
                      <a:endParaRPr lang="en-US" sz="1300">
                        <a:latin typeface="Public Sans" charset="0"/>
                        <a:ea typeface="Public Sans" charset="0"/>
                        <a:cs typeface="Public Sans" charset="0"/>
                      </a:endParaRPr>
                    </a:p>
                  </a:txBody>
                  <a:tcPr marL="57785" marR="57785" marT="57785" marB="57785">
                    <a:lnL w="12700" cap="flat" cmpd="sng" algn="ctr">
                      <a:solidFill>
                        <a:srgbClr val="C1C4C8"/>
                      </a:solidFill>
                      <a:prstDash val="solid"/>
                      <a:round/>
                      <a:headEnd type="none" w="med" len="med"/>
                      <a:tailEnd type="none" w="med" len="med"/>
                    </a:lnL>
                    <a:lnR w="12700" cap="flat" cmpd="sng" algn="ctr">
                      <a:solidFill>
                        <a:srgbClr val="C1C4C8"/>
                      </a:solidFill>
                      <a:prstDash val="solid"/>
                      <a:round/>
                      <a:headEnd type="none" w="med" len="med"/>
                      <a:tailEnd type="none" w="med" len="med"/>
                    </a:lnR>
                    <a:lnT w="12700" cap="flat" cmpd="sng" algn="ctr">
                      <a:solidFill>
                        <a:srgbClr val="C1C4C8"/>
                      </a:solidFill>
                      <a:prstDash val="solid"/>
                      <a:round/>
                      <a:headEnd type="none" w="med" len="med"/>
                      <a:tailEnd type="none" w="med" len="med"/>
                    </a:lnT>
                    <a:lnB w="12700" cap="flat" cmpd="sng" algn="ctr">
                      <a:solidFill>
                        <a:srgbClr val="C1C4C8"/>
                      </a:solidFill>
                      <a:prstDash val="solid"/>
                      <a:round/>
                      <a:headEnd type="none" w="med" len="med"/>
                      <a:tailEnd type="none" w="med" len="med"/>
                    </a:lnB>
                  </a:tcPr>
                </a:tc>
                <a:extLst>
                  <a:ext uri="{0D108BD9-81ED-4DB2-BD59-A6C34878D82A}">
                    <a16:rowId xmlns:a16="http://schemas.microsoft.com/office/drawing/2014/main" val="10003"/>
                  </a:ext>
                </a:extLst>
              </a:tr>
              <a:tr h="588010">
                <a:tc>
                  <a:txBody>
                    <a:bodyPr/>
                    <a:lstStyle/>
                    <a:p>
                      <a:pPr marL="0" indent="0">
                        <a:lnSpc>
                          <a:spcPts val="1820"/>
                        </a:lnSpc>
                        <a:buNone/>
                      </a:pPr>
                      <a:r>
                        <a:rPr lang="en-US" sz="1300">
                          <a:solidFill>
                            <a:srgbClr val="B45309"/>
                          </a:solidFill>
                          <a:latin typeface="Public Sans" pitchFamily="34" charset="0"/>
                          <a:ea typeface="Public Sans" pitchFamily="34" charset="-122"/>
                          <a:cs typeface="Public Sans" pitchFamily="34" charset="-120"/>
                        </a:rPr>
                        <a:t>[Member 4]</a:t>
                      </a:r>
                      <a:endParaRPr lang="en-US" sz="1300">
                        <a:latin typeface="Public Sans" charset="0"/>
                        <a:ea typeface="Public Sans" charset="0"/>
                        <a:cs typeface="Public Sans" charset="0"/>
                      </a:endParaRPr>
                    </a:p>
                  </a:txBody>
                  <a:tcPr marL="57785" marR="57785" marT="57785" marB="57785">
                    <a:lnL w="12700" cap="flat" cmpd="sng" algn="ctr">
                      <a:solidFill>
                        <a:srgbClr val="C1C4C8"/>
                      </a:solidFill>
                      <a:prstDash val="solid"/>
                      <a:round/>
                      <a:headEnd type="none" w="med" len="med"/>
                      <a:tailEnd type="none" w="med" len="med"/>
                    </a:lnL>
                    <a:lnR w="12700" cap="flat" cmpd="sng" algn="ctr">
                      <a:solidFill>
                        <a:srgbClr val="C1C4C8"/>
                      </a:solidFill>
                      <a:prstDash val="solid"/>
                      <a:round/>
                      <a:headEnd type="none" w="med" len="med"/>
                      <a:tailEnd type="none" w="med" len="med"/>
                    </a:lnR>
                    <a:lnT w="12700" cap="flat" cmpd="sng" algn="ctr">
                      <a:solidFill>
                        <a:srgbClr val="C1C4C8"/>
                      </a:solidFill>
                      <a:prstDash val="solid"/>
                      <a:round/>
                      <a:headEnd type="none" w="med" len="med"/>
                      <a:tailEnd type="none" w="med" len="med"/>
                    </a:lnT>
                    <a:lnB w="12700" cap="flat" cmpd="sng" algn="ctr">
                      <a:solidFill>
                        <a:srgbClr val="C1C4C8"/>
                      </a:solidFill>
                      <a:prstDash val="solid"/>
                      <a:round/>
                      <a:headEnd type="none" w="med" len="med"/>
                      <a:tailEnd type="none" w="med" len="med"/>
                    </a:lnB>
                  </a:tcPr>
                </a:tc>
                <a:tc>
                  <a:txBody>
                    <a:bodyPr/>
                    <a:lstStyle/>
                    <a:p>
                      <a:pPr marL="0" indent="0">
                        <a:lnSpc>
                          <a:spcPts val="1820"/>
                        </a:lnSpc>
                        <a:buNone/>
                      </a:pPr>
                      <a:r>
                        <a:rPr lang="en-US" sz="1300">
                          <a:solidFill>
                            <a:srgbClr val="B45309"/>
                          </a:solidFill>
                          <a:latin typeface="Public Sans" pitchFamily="34" charset="0"/>
                          <a:ea typeface="Public Sans" pitchFamily="34" charset="-122"/>
                          <a:cs typeface="Public Sans" pitchFamily="34" charset="-120"/>
                        </a:rPr>
                        <a:t>[e.g., Research &amp; design]</a:t>
                      </a:r>
                      <a:endParaRPr lang="en-US" sz="1300">
                        <a:latin typeface="Public Sans" charset="0"/>
                        <a:ea typeface="Public Sans" charset="0"/>
                        <a:cs typeface="Public Sans" charset="0"/>
                      </a:endParaRPr>
                    </a:p>
                  </a:txBody>
                  <a:tcPr marL="57785" marR="57785" marT="57785" marB="57785">
                    <a:lnL w="12700" cap="flat" cmpd="sng" algn="ctr">
                      <a:solidFill>
                        <a:srgbClr val="C1C4C8"/>
                      </a:solidFill>
                      <a:prstDash val="solid"/>
                      <a:round/>
                      <a:headEnd type="none" w="med" len="med"/>
                      <a:tailEnd type="none" w="med" len="med"/>
                    </a:lnL>
                    <a:lnR w="12700" cap="flat" cmpd="sng" algn="ctr">
                      <a:solidFill>
                        <a:srgbClr val="C1C4C8"/>
                      </a:solidFill>
                      <a:prstDash val="solid"/>
                      <a:round/>
                      <a:headEnd type="none" w="med" len="med"/>
                      <a:tailEnd type="none" w="med" len="med"/>
                    </a:lnR>
                    <a:lnT w="12700" cap="flat" cmpd="sng" algn="ctr">
                      <a:solidFill>
                        <a:srgbClr val="C1C4C8"/>
                      </a:solidFill>
                      <a:prstDash val="solid"/>
                      <a:round/>
                      <a:headEnd type="none" w="med" len="med"/>
                      <a:tailEnd type="none" w="med" len="med"/>
                    </a:lnT>
                    <a:lnB w="12700" cap="flat" cmpd="sng" algn="ctr">
                      <a:solidFill>
                        <a:srgbClr val="C1C4C8"/>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8" name="Shape 4"/>
          <p:cNvSpPr/>
          <p:nvPr/>
        </p:nvSpPr>
        <p:spPr>
          <a:xfrm>
            <a:off x="4321175" y="1120775"/>
            <a:ext cx="3549650" cy="5022850"/>
          </a:xfrm>
          <a:prstGeom prst="roundRect">
            <a:avLst>
              <a:gd name="adj" fmla="val 2773"/>
            </a:avLst>
          </a:prstGeom>
          <a:solidFill>
            <a:srgbClr val="F2F6FB"/>
          </a:solidFill>
          <a:ln w="6350">
            <a:solidFill>
              <a:srgbClr val="D6E2F0"/>
            </a:solidFill>
            <a:prstDash val="solid"/>
          </a:ln>
        </p:spPr>
      </p:sp>
      <p:sp>
        <p:nvSpPr>
          <p:cNvPr id="9" name="Text 5"/>
          <p:cNvSpPr/>
          <p:nvPr/>
        </p:nvSpPr>
        <p:spPr>
          <a:xfrm>
            <a:off x="4526280" y="1300482"/>
            <a:ext cx="3233623" cy="269240"/>
          </a:xfrm>
          <a:prstGeom prst="rect">
            <a:avLst/>
          </a:prstGeom>
          <a:noFill/>
          <a:ln/>
        </p:spPr>
        <p:txBody>
          <a:bodyPr wrap="square" lIns="0" tIns="0" rIns="0" bIns="0" rtlCol="0" anchor="t">
            <a:normAutofit/>
          </a:bodyPr>
          <a:lstStyle/>
          <a:p>
            <a:pPr marL="0" indent="0" algn="l">
              <a:lnSpc>
                <a:spcPts val="1920"/>
              </a:lnSpc>
              <a:buNone/>
            </a:pPr>
            <a:r>
              <a:rPr lang="en-US" sz="1600" b="1">
                <a:solidFill>
                  <a:srgbClr val="0070C0"/>
                </a:solidFill>
                <a:latin typeface="Public Sans" pitchFamily="34" charset="0"/>
                <a:ea typeface="Public Sans" pitchFamily="34" charset="-122"/>
                <a:cs typeface="Public Sans" pitchFamily="34" charset="-120"/>
              </a:rPr>
              <a:t>Challenges</a:t>
            </a:r>
            <a:endParaRPr lang="en-US" sz="1600"/>
          </a:p>
        </p:txBody>
      </p:sp>
      <p:sp>
        <p:nvSpPr>
          <p:cNvPr id="10" name="Text 6"/>
          <p:cNvSpPr/>
          <p:nvPr/>
        </p:nvSpPr>
        <p:spPr>
          <a:xfrm>
            <a:off x="4624324" y="1645921"/>
            <a:ext cx="3127959" cy="718820"/>
          </a:xfrm>
          <a:prstGeom prst="rect">
            <a:avLst/>
          </a:prstGeom>
          <a:noFill/>
          <a:ln/>
        </p:spPr>
        <p:txBody>
          <a:bodyPr wrap="square" lIns="0" tIns="0" rIns="0" bIns="0" rtlCol="0" anchor="t">
            <a:normAutofit/>
          </a:bodyPr>
          <a:lstStyle/>
          <a:p>
            <a:pPr marL="155956" indent="-155956" algn="l">
              <a:lnSpc>
                <a:spcPts val="1820"/>
              </a:lnSpc>
              <a:buSzPct val="100000"/>
              <a:buChar char="•"/>
            </a:pPr>
            <a:r>
              <a:rPr lang="en-US" sz="1300">
                <a:solidFill>
                  <a:srgbClr val="B45309"/>
                </a:solidFill>
                <a:latin typeface="Public Sans" pitchFamily="34" charset="0"/>
                <a:ea typeface="Public Sans" pitchFamily="34" charset="-122"/>
                <a:cs typeface="Public Sans" pitchFamily="34" charset="-120"/>
              </a:rPr>
              <a:t>[Challenge 1 faced by the team]</a:t>
            </a:r>
            <a:endParaRPr lang="en-US" sz="1300"/>
          </a:p>
          <a:p>
            <a:pPr marL="155956" indent="-155956" algn="l">
              <a:lnSpc>
                <a:spcPts val="1820"/>
              </a:lnSpc>
              <a:buSzPct val="100000"/>
              <a:buChar char="•"/>
            </a:pPr>
            <a:r>
              <a:rPr lang="en-US" sz="1300">
                <a:solidFill>
                  <a:srgbClr val="B45309"/>
                </a:solidFill>
                <a:latin typeface="Public Sans" pitchFamily="34" charset="0"/>
                <a:ea typeface="Public Sans" pitchFamily="34" charset="-122"/>
                <a:cs typeface="Public Sans" pitchFamily="34" charset="-120"/>
              </a:rPr>
              <a:t>[Challenge 2 faced by the team]</a:t>
            </a:r>
            <a:endParaRPr lang="en-US" sz="1300"/>
          </a:p>
          <a:p>
            <a:pPr marL="155956" indent="-155956" algn="l">
              <a:lnSpc>
                <a:spcPts val="1820"/>
              </a:lnSpc>
              <a:buSzPct val="100000"/>
              <a:buChar char="•"/>
            </a:pPr>
            <a:r>
              <a:rPr lang="en-US" sz="1300">
                <a:solidFill>
                  <a:srgbClr val="B45309"/>
                </a:solidFill>
                <a:latin typeface="Public Sans" pitchFamily="34" charset="0"/>
                <a:ea typeface="Public Sans" pitchFamily="34" charset="-122"/>
                <a:cs typeface="Public Sans" pitchFamily="34" charset="-120"/>
              </a:rPr>
              <a:t>[Challenge 3 faced by the team]</a:t>
            </a:r>
            <a:endParaRPr lang="en-US" sz="1300"/>
          </a:p>
        </p:txBody>
      </p:sp>
      <p:sp>
        <p:nvSpPr>
          <p:cNvPr id="11" name="Shape 7"/>
          <p:cNvSpPr/>
          <p:nvPr/>
        </p:nvSpPr>
        <p:spPr>
          <a:xfrm>
            <a:off x="8029575" y="1120775"/>
            <a:ext cx="3549650" cy="5022850"/>
          </a:xfrm>
          <a:prstGeom prst="roundRect">
            <a:avLst>
              <a:gd name="adj" fmla="val 2773"/>
            </a:avLst>
          </a:prstGeom>
          <a:solidFill>
            <a:srgbClr val="F2F6FB"/>
          </a:solidFill>
          <a:ln w="6350">
            <a:solidFill>
              <a:srgbClr val="D6E2F0"/>
            </a:solidFill>
            <a:prstDash val="solid"/>
          </a:ln>
        </p:spPr>
      </p:sp>
      <p:sp>
        <p:nvSpPr>
          <p:cNvPr id="12" name="Text 8"/>
          <p:cNvSpPr/>
          <p:nvPr/>
        </p:nvSpPr>
        <p:spPr>
          <a:xfrm>
            <a:off x="8234680" y="1300482"/>
            <a:ext cx="3233623" cy="269240"/>
          </a:xfrm>
          <a:prstGeom prst="rect">
            <a:avLst/>
          </a:prstGeom>
          <a:noFill/>
          <a:ln/>
        </p:spPr>
        <p:txBody>
          <a:bodyPr wrap="square" lIns="0" tIns="0" rIns="0" bIns="0" rtlCol="0" anchor="t">
            <a:normAutofit/>
          </a:bodyPr>
          <a:lstStyle/>
          <a:p>
            <a:pPr marL="0" indent="0" algn="l">
              <a:lnSpc>
                <a:spcPts val="1920"/>
              </a:lnSpc>
              <a:buNone/>
            </a:pPr>
            <a:r>
              <a:rPr lang="en-US" sz="1600" b="1">
                <a:solidFill>
                  <a:srgbClr val="0070C0"/>
                </a:solidFill>
                <a:latin typeface="Public Sans" pitchFamily="34" charset="0"/>
                <a:ea typeface="Public Sans" pitchFamily="34" charset="-122"/>
                <a:cs typeface="Public Sans" pitchFamily="34" charset="-120"/>
              </a:rPr>
              <a:t>Our journey so far</a:t>
            </a:r>
            <a:endParaRPr lang="en-US" sz="1600"/>
          </a:p>
        </p:txBody>
      </p:sp>
      <p:sp>
        <p:nvSpPr>
          <p:cNvPr id="13" name="Text 9"/>
          <p:cNvSpPr/>
          <p:nvPr/>
        </p:nvSpPr>
        <p:spPr>
          <a:xfrm>
            <a:off x="8332724" y="1645921"/>
            <a:ext cx="3127959" cy="1874520"/>
          </a:xfrm>
          <a:prstGeom prst="rect">
            <a:avLst/>
          </a:prstGeom>
          <a:noFill/>
          <a:ln/>
        </p:spPr>
        <p:txBody>
          <a:bodyPr wrap="square" lIns="0" tIns="0" rIns="0" bIns="0" rtlCol="0" anchor="t">
            <a:normAutofit/>
          </a:bodyPr>
          <a:lstStyle/>
          <a:p>
            <a:pPr marL="155956" indent="-155956" algn="l">
              <a:lnSpc>
                <a:spcPts val="1820"/>
              </a:lnSpc>
              <a:buSzPct val="100000"/>
              <a:buChar char="•"/>
            </a:pPr>
            <a:r>
              <a:rPr lang="en-US" sz="1300">
                <a:solidFill>
                  <a:srgbClr val="1A1A1A"/>
                </a:solidFill>
                <a:latin typeface="Public Sans" pitchFamily="34" charset="0"/>
                <a:ea typeface="Public Sans" pitchFamily="34" charset="-122"/>
                <a:cs typeface="Public Sans" pitchFamily="34" charset="-120"/>
              </a:rPr>
              <a:t>Participated in IEEE Xtreme</a:t>
            </a:r>
            <a:endParaRPr lang="en-US" sz="1300"/>
          </a:p>
          <a:p>
            <a:pPr marL="155956" indent="-155956" algn="l">
              <a:lnSpc>
                <a:spcPts val="1820"/>
              </a:lnSpc>
              <a:buSzPct val="100000"/>
              <a:buChar char="•"/>
            </a:pPr>
            <a:r>
              <a:rPr lang="en-US" sz="1300">
                <a:solidFill>
                  <a:srgbClr val="1A1A1A"/>
                </a:solidFill>
                <a:latin typeface="Public Sans" pitchFamily="34" charset="0"/>
                <a:ea typeface="Public Sans" pitchFamily="34" charset="-122"/>
                <a:cs typeface="Public Sans" pitchFamily="34" charset="-120"/>
              </a:rPr>
              <a:t>Took part in project-based competitions</a:t>
            </a:r>
            <a:endParaRPr lang="en-US" sz="1300"/>
          </a:p>
          <a:p>
            <a:pPr marL="155956" indent="-155956" algn="l">
              <a:lnSpc>
                <a:spcPts val="1820"/>
              </a:lnSpc>
              <a:buSzPct val="100000"/>
              <a:buChar char="•"/>
            </a:pPr>
            <a:r>
              <a:rPr lang="en-US" sz="1300">
                <a:solidFill>
                  <a:srgbClr val="1A1A1A"/>
                </a:solidFill>
                <a:latin typeface="Public Sans" pitchFamily="34" charset="0"/>
                <a:ea typeface="Public Sans" pitchFamily="34" charset="-122"/>
                <a:cs typeface="Public Sans" pitchFamily="34" charset="-120"/>
              </a:rPr>
              <a:t>Registered on the Yukthi portal</a:t>
            </a:r>
            <a:endParaRPr lang="en-US" sz="1300"/>
          </a:p>
          <a:p>
            <a:pPr marL="155956" indent="-155956" algn="l">
              <a:lnSpc>
                <a:spcPts val="1820"/>
              </a:lnSpc>
              <a:buSzPct val="100000"/>
              <a:buChar char="•"/>
            </a:pPr>
            <a:r>
              <a:rPr lang="en-US" sz="1300">
                <a:solidFill>
                  <a:srgbClr val="1A1A1A"/>
                </a:solidFill>
                <a:latin typeface="Public Sans" pitchFamily="34" charset="0"/>
                <a:ea typeface="Public Sans" pitchFamily="34" charset="-122"/>
                <a:cs typeface="Public Sans" pitchFamily="34" charset="-120"/>
              </a:rPr>
              <a:t>Built a simulation model of the controller</a:t>
            </a:r>
            <a:endParaRPr lang="en-US" sz="1300"/>
          </a:p>
          <a:p>
            <a:pPr marL="155956" indent="-155956" algn="l">
              <a:lnSpc>
                <a:spcPts val="1820"/>
              </a:lnSpc>
              <a:buSzPct val="100000"/>
              <a:buChar char="•"/>
            </a:pPr>
            <a:r>
              <a:rPr lang="en-US" sz="1300">
                <a:solidFill>
                  <a:srgbClr val="1A1A1A"/>
                </a:solidFill>
                <a:latin typeface="Public Sans" pitchFamily="34" charset="0"/>
                <a:ea typeface="Public Sans" pitchFamily="34" charset="-122"/>
                <a:cs typeface="Public Sans" pitchFamily="34" charset="-120"/>
              </a:rPr>
              <a:t>Presented at Sairam SDG Innovathon 4.0</a:t>
            </a:r>
            <a:endParaRPr lang="en-US" sz="1300"/>
          </a:p>
        </p:txBody>
      </p:sp>
      <p:sp>
        <p:nvSpPr>
          <p:cNvPr id="14" name="Text 10"/>
          <p:cNvSpPr/>
          <p:nvPr/>
        </p:nvSpPr>
        <p:spPr>
          <a:xfrm>
            <a:off x="2171700" y="6339839"/>
            <a:ext cx="7848600" cy="238760"/>
          </a:xfrm>
          <a:prstGeom prst="rect">
            <a:avLst/>
          </a:prstGeom>
          <a:noFill/>
          <a:ln/>
        </p:spPr>
        <p:txBody>
          <a:bodyPr wrap="square" lIns="0" tIns="0" rIns="0" bIns="0" rtlCol="0" anchor="t">
            <a:normAutofit/>
          </a:bodyPr>
          <a:lstStyle/>
          <a:p>
            <a:pPr marL="0" indent="0" algn="ctr">
              <a:lnSpc>
                <a:spcPts val="1680"/>
              </a:lnSpc>
              <a:buNone/>
            </a:pPr>
            <a:r>
              <a:rPr lang="en-US" sz="1200">
                <a:solidFill>
                  <a:srgbClr val="1F3864"/>
                </a:solidFill>
                <a:latin typeface="Public Sans" pitchFamily="34" charset="0"/>
                <a:ea typeface="Public Sans" pitchFamily="34" charset="-122"/>
                <a:cs typeface="Public Sans" pitchFamily="34" charset="-120"/>
              </a:rPr>
              <a:t>@HSC submission- Template</a:t>
            </a:r>
            <a:endParaRPr lang="en-US" sz="1200"/>
          </a:p>
        </p:txBody>
      </p:sp>
      <p:sp>
        <p:nvSpPr>
          <p:cNvPr id="15" name="Text 11"/>
          <p:cNvSpPr/>
          <p:nvPr/>
        </p:nvSpPr>
        <p:spPr>
          <a:xfrm>
            <a:off x="11150600" y="6339839"/>
            <a:ext cx="431800" cy="238760"/>
          </a:xfrm>
          <a:prstGeom prst="rect">
            <a:avLst/>
          </a:prstGeom>
          <a:noFill/>
          <a:ln/>
        </p:spPr>
        <p:txBody>
          <a:bodyPr wrap="square" lIns="0" tIns="0" rIns="0" bIns="0" rtlCol="0" anchor="t">
            <a:normAutofit/>
          </a:bodyPr>
          <a:lstStyle/>
          <a:p>
            <a:pPr marL="0" indent="0" algn="r">
              <a:lnSpc>
                <a:spcPts val="1680"/>
              </a:lnSpc>
              <a:buNone/>
            </a:pPr>
            <a:r>
              <a:rPr lang="en-US" sz="1200">
                <a:solidFill>
                  <a:srgbClr val="6B7280"/>
                </a:solidFill>
                <a:latin typeface="Public Sans" pitchFamily="34" charset="0"/>
                <a:ea typeface="Public Sans" pitchFamily="34" charset="-122"/>
                <a:cs typeface="Public Sans" pitchFamily="34" charset="-120"/>
              </a:rPr>
              <a:t>6</a:t>
            </a:r>
            <a:endParaRPr lang="en-US" sz="12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DFDFC"/>
        </a:solidFill>
        <a:effectLst/>
      </p:bgPr>
    </p:bg>
    <p:spTree>
      <p:nvGrpSpPr>
        <p:cNvPr id="1" name=""/>
        <p:cNvGrpSpPr/>
        <p:nvPr/>
      </p:nvGrpSpPr>
      <p:grpSpPr>
        <a:xfrm>
          <a:off x="0" y="0"/>
          <a:ext cx="0" cy="0"/>
          <a:chOff x="0" y="0"/>
          <a:chExt cx="0" cy="0"/>
        </a:xfrm>
      </p:grpSpPr>
      <p:sp>
        <p:nvSpPr>
          <p:cNvPr id="2" name="Text 0"/>
          <p:cNvSpPr/>
          <p:nvPr/>
        </p:nvSpPr>
        <p:spPr>
          <a:xfrm>
            <a:off x="615950" y="336550"/>
            <a:ext cx="1511300" cy="546100"/>
          </a:xfrm>
          <a:prstGeom prst="roundRect">
            <a:avLst>
              <a:gd name="adj" fmla="val 50000"/>
            </a:avLst>
          </a:prstGeom>
          <a:gradFill rotWithShape="1">
            <a:gsLst>
              <a:gs pos="0">
                <a:srgbClr val="FFE3C7"/>
              </a:gs>
              <a:gs pos="100000">
                <a:srgbClr val="F7B27A"/>
              </a:gs>
            </a:gsLst>
            <a:lin ang="5400000" scaled="0"/>
          </a:gradFill>
          <a:ln w="12700">
            <a:solidFill>
              <a:srgbClr val="E8964F"/>
            </a:solidFill>
            <a:prstDash val="solid"/>
          </a:ln>
        </p:spPr>
        <p:txBody>
          <a:bodyPr wrap="square" lIns="0" tIns="0" rIns="0" bIns="0" rtlCol="0" anchor="ctr">
            <a:normAutofit/>
          </a:bodyPr>
          <a:lstStyle/>
          <a:p>
            <a:pPr marL="0" indent="0" algn="ctr">
              <a:lnSpc>
                <a:spcPts val="1960"/>
              </a:lnSpc>
              <a:buNone/>
            </a:pPr>
            <a:r>
              <a:rPr lang="en-US" sz="1400">
                <a:solidFill>
                  <a:srgbClr val="1A1A1A"/>
                </a:solidFill>
                <a:latin typeface="Public Sans" pitchFamily="34" charset="0"/>
                <a:ea typeface="Public Sans" pitchFamily="34" charset="-122"/>
                <a:cs typeface="Public Sans" pitchFamily="34" charset="-120"/>
              </a:rPr>
              <a:t>[Team Name]</a:t>
            </a:r>
            <a:endParaRPr lang="en-US" sz="1400"/>
          </a:p>
        </p:txBody>
      </p:sp>
      <p:sp>
        <p:nvSpPr>
          <p:cNvPr id="3" name="Text 1"/>
          <p:cNvSpPr>
            <a:spLocks noGrp="1"/>
          </p:cNvSpPr>
          <p:nvPr>
            <p:ph type="title"/>
          </p:nvPr>
        </p:nvSpPr>
        <p:spPr>
          <a:xfrm>
            <a:off x="2170748" y="390525"/>
            <a:ext cx="7914005" cy="463550"/>
          </a:xfrm>
          <a:prstGeom prst="rect">
            <a:avLst/>
          </a:prstGeom>
          <a:noFill/>
          <a:ln/>
        </p:spPr>
        <p:txBody>
          <a:bodyPr wrap="square" lIns="0" tIns="0" rIns="0" bIns="0" rtlCol="0" anchor="t">
            <a:normAutofit/>
          </a:bodyPr>
          <a:lstStyle/>
          <a:p>
            <a:pPr marL="0" indent="0" algn="ctr">
              <a:lnSpc>
                <a:spcPts val="3450"/>
              </a:lnSpc>
              <a:buNone/>
            </a:pPr>
            <a:r>
              <a:rPr lang="en-US" sz="3000" b="1" i="0">
                <a:solidFill>
                  <a:srgbClr val="1F497D"/>
                </a:solidFill>
                <a:latin typeface="Public Sans" pitchFamily="34" charset="0"/>
                <a:ea typeface="Public Sans" pitchFamily="34" charset="-122"/>
                <a:cs typeface="Public Sans" pitchFamily="34" charset="-120"/>
              </a:rPr>
              <a:t>References</a:t>
            </a:r>
            <a:endParaRPr lang="en-US" sz="3000"/>
          </a:p>
        </p:txBody>
      </p:sp>
      <p:pic>
        <p:nvPicPr>
          <p:cNvPr id="4" name="Image 0" descr="Hack for Social Cause logo"/>
          <p:cNvPicPr>
            <a:picLocks noChangeAspect="1"/>
          </p:cNvPicPr>
          <p:nvPr/>
        </p:nvPicPr>
        <p:blipFill>
          <a:blip r:embed="rId3"/>
          <a:srcRect l="-120" r="-120"/>
          <a:stretch/>
        </p:blipFill>
        <p:spPr>
          <a:xfrm>
            <a:off x="10121900" y="247650"/>
            <a:ext cx="1460500" cy="723900"/>
          </a:xfrm>
          <a:prstGeom prst="rect">
            <a:avLst/>
          </a:prstGeom>
        </p:spPr>
      </p:pic>
      <p:sp>
        <p:nvSpPr>
          <p:cNvPr id="5" name="Shape 2"/>
          <p:cNvSpPr/>
          <p:nvPr/>
        </p:nvSpPr>
        <p:spPr>
          <a:xfrm>
            <a:off x="612775" y="1120775"/>
            <a:ext cx="10966450" cy="3051175"/>
          </a:xfrm>
          <a:prstGeom prst="roundRect">
            <a:avLst>
              <a:gd name="adj" fmla="val 3226"/>
            </a:avLst>
          </a:prstGeom>
          <a:solidFill>
            <a:srgbClr val="F2F6FB"/>
          </a:solidFill>
          <a:ln w="6350">
            <a:solidFill>
              <a:srgbClr val="D6E2F0"/>
            </a:solidFill>
            <a:prstDash val="solid"/>
          </a:ln>
        </p:spPr>
      </p:sp>
      <p:sp>
        <p:nvSpPr>
          <p:cNvPr id="6" name="Text 3"/>
          <p:cNvSpPr/>
          <p:nvPr/>
        </p:nvSpPr>
        <p:spPr>
          <a:xfrm>
            <a:off x="868680" y="1325882"/>
            <a:ext cx="10768279" cy="248285"/>
          </a:xfrm>
          <a:prstGeom prst="rect">
            <a:avLst/>
          </a:prstGeom>
          <a:noFill/>
          <a:ln/>
        </p:spPr>
        <p:txBody>
          <a:bodyPr wrap="square" lIns="0" tIns="0" rIns="0" bIns="0" rtlCol="0" anchor="t">
            <a:normAutofit/>
          </a:bodyPr>
          <a:lstStyle/>
          <a:p>
            <a:pPr marL="0" indent="0" algn="l">
              <a:lnSpc>
                <a:spcPts val="1755"/>
              </a:lnSpc>
              <a:buNone/>
            </a:pPr>
            <a:r>
              <a:rPr lang="en-US" sz="1300">
                <a:solidFill>
                  <a:srgbClr val="1A1A1A"/>
                </a:solidFill>
                <a:latin typeface="Public Sans" pitchFamily="34" charset="0"/>
                <a:ea typeface="Public Sans" pitchFamily="34" charset="-122"/>
                <a:cs typeface="Public Sans" pitchFamily="34" charset="-120"/>
              </a:rPr>
              <a:t>[1] K. Ogata, </a:t>
            </a:r>
            <a:r>
              <a:rPr lang="en-US" sz="1300" i="1">
                <a:solidFill>
                  <a:srgbClr val="1A1A1A"/>
                </a:solidFill>
                <a:latin typeface="Public Sans" pitchFamily="34" charset="0"/>
                <a:ea typeface="Public Sans" pitchFamily="34" charset="-122"/>
                <a:cs typeface="Public Sans" pitchFamily="34" charset="-120"/>
              </a:rPr>
              <a:t>Modern Control Engineering</a:t>
            </a:r>
            <a:r>
              <a:rPr lang="en-US" sz="1300">
                <a:solidFill>
                  <a:srgbClr val="1A1A1A"/>
                </a:solidFill>
                <a:latin typeface="Public Sans" pitchFamily="34" charset="0"/>
                <a:ea typeface="Public Sans" pitchFamily="34" charset="-122"/>
                <a:cs typeface="Public Sans" pitchFamily="34" charset="-120"/>
              </a:rPr>
              <a:t>, 5th ed. Upper Saddle River, NJ, USA: Prentice Hall, 2010.</a:t>
            </a:r>
            <a:endParaRPr lang="en-US" sz="1300"/>
          </a:p>
        </p:txBody>
      </p:sp>
      <p:sp>
        <p:nvSpPr>
          <p:cNvPr id="7" name="Text 4"/>
          <p:cNvSpPr/>
          <p:nvPr/>
        </p:nvSpPr>
        <p:spPr>
          <a:xfrm>
            <a:off x="868680" y="1675764"/>
            <a:ext cx="10768279" cy="248285"/>
          </a:xfrm>
          <a:prstGeom prst="rect">
            <a:avLst/>
          </a:prstGeom>
          <a:noFill/>
          <a:ln/>
        </p:spPr>
        <p:txBody>
          <a:bodyPr wrap="square" lIns="0" tIns="0" rIns="0" bIns="0" rtlCol="0" anchor="t">
            <a:normAutofit/>
          </a:bodyPr>
          <a:lstStyle/>
          <a:p>
            <a:pPr marL="0" indent="0" algn="l">
              <a:lnSpc>
                <a:spcPts val="1755"/>
              </a:lnSpc>
              <a:buNone/>
            </a:pPr>
            <a:r>
              <a:rPr lang="en-US" sz="1300">
                <a:solidFill>
                  <a:srgbClr val="1A1A1A"/>
                </a:solidFill>
                <a:latin typeface="Public Sans" pitchFamily="34" charset="0"/>
                <a:ea typeface="Public Sans" pitchFamily="34" charset="-122"/>
                <a:cs typeface="Public Sans" pitchFamily="34" charset="-120"/>
              </a:rPr>
              <a:t>[2] A. Bequette, </a:t>
            </a:r>
            <a:r>
              <a:rPr lang="en-US" sz="1300" i="1">
                <a:solidFill>
                  <a:srgbClr val="1A1A1A"/>
                </a:solidFill>
                <a:latin typeface="Public Sans" pitchFamily="34" charset="0"/>
                <a:ea typeface="Public Sans" pitchFamily="34" charset="-122"/>
                <a:cs typeface="Public Sans" pitchFamily="34" charset="-120"/>
              </a:rPr>
              <a:t>Process Control: Modeling, Design, and Simulation</a:t>
            </a:r>
            <a:r>
              <a:rPr lang="en-US" sz="1300">
                <a:solidFill>
                  <a:srgbClr val="1A1A1A"/>
                </a:solidFill>
                <a:latin typeface="Public Sans" pitchFamily="34" charset="0"/>
                <a:ea typeface="Public Sans" pitchFamily="34" charset="-122"/>
                <a:cs typeface="Public Sans" pitchFamily="34" charset="-120"/>
              </a:rPr>
              <a:t>. Upper Saddle River, NJ, USA: Prentice Hall, 2003.</a:t>
            </a:r>
            <a:endParaRPr lang="en-US" sz="1300"/>
          </a:p>
        </p:txBody>
      </p:sp>
      <p:sp>
        <p:nvSpPr>
          <p:cNvPr id="8" name="Text 5"/>
          <p:cNvSpPr/>
          <p:nvPr/>
        </p:nvSpPr>
        <p:spPr>
          <a:xfrm>
            <a:off x="868680" y="2025650"/>
            <a:ext cx="10768279" cy="471170"/>
          </a:xfrm>
          <a:prstGeom prst="rect">
            <a:avLst/>
          </a:prstGeom>
          <a:noFill/>
          <a:ln/>
        </p:spPr>
        <p:txBody>
          <a:bodyPr wrap="square" lIns="0" tIns="0" rIns="0" bIns="0" rtlCol="0" anchor="t">
            <a:normAutofit/>
          </a:bodyPr>
          <a:lstStyle/>
          <a:p>
            <a:pPr marL="0" indent="0" algn="l">
              <a:lnSpc>
                <a:spcPts val="1755"/>
              </a:lnSpc>
              <a:buNone/>
            </a:pPr>
            <a:r>
              <a:rPr lang="en-US" sz="1300">
                <a:solidFill>
                  <a:srgbClr val="1A1A1A"/>
                </a:solidFill>
                <a:latin typeface="Public Sans" pitchFamily="34" charset="0"/>
                <a:ea typeface="Public Sans" pitchFamily="34" charset="-122"/>
                <a:cs typeface="Public Sans" pitchFamily="34" charset="-120"/>
              </a:rPr>
              <a:t>[3] S. M. S. Tanzil and A. K. M. Arifuzzman, “Design and implementation of a smart incubator for bio-medical applications,” Proc. Int. Conf. Electrical, Computer and Communication Engineering (ECCE), Cox’s Bazar, Bangladesh, Feb. 2019, pp. 1–6.</a:t>
            </a:r>
            <a:endParaRPr lang="en-US" sz="1300"/>
          </a:p>
        </p:txBody>
      </p:sp>
      <p:sp>
        <p:nvSpPr>
          <p:cNvPr id="9" name="Text 6"/>
          <p:cNvSpPr/>
          <p:nvPr/>
        </p:nvSpPr>
        <p:spPr>
          <a:xfrm>
            <a:off x="868680" y="2598421"/>
            <a:ext cx="10768279" cy="471170"/>
          </a:xfrm>
          <a:prstGeom prst="rect">
            <a:avLst/>
          </a:prstGeom>
          <a:noFill/>
          <a:ln/>
        </p:spPr>
        <p:txBody>
          <a:bodyPr wrap="square" lIns="0" tIns="0" rIns="0" bIns="0" rtlCol="0" anchor="t">
            <a:normAutofit/>
          </a:bodyPr>
          <a:lstStyle/>
          <a:p>
            <a:pPr marL="0" indent="0" algn="l">
              <a:lnSpc>
                <a:spcPts val="1755"/>
              </a:lnSpc>
              <a:buNone/>
            </a:pPr>
            <a:r>
              <a:rPr lang="en-US" sz="1300">
                <a:solidFill>
                  <a:srgbClr val="1A1A1A"/>
                </a:solidFill>
                <a:latin typeface="Public Sans" pitchFamily="34" charset="0"/>
                <a:ea typeface="Public Sans" pitchFamily="34" charset="-122"/>
                <a:cs typeface="Public Sans" pitchFamily="34" charset="-120"/>
              </a:rPr>
              <a:t>[4] M. R. Islam, T. Hossain, and M. A. Rahman, “Microcontroller based temperature and humidity controlled automatic egg incubator,” Int. J. Computer Applications, vol. 81, no. 5, pp. 35–41, Nov. 2013.</a:t>
            </a:r>
            <a:endParaRPr lang="en-US" sz="1300"/>
          </a:p>
        </p:txBody>
      </p:sp>
      <p:sp>
        <p:nvSpPr>
          <p:cNvPr id="10" name="Text 7"/>
          <p:cNvSpPr/>
          <p:nvPr/>
        </p:nvSpPr>
        <p:spPr>
          <a:xfrm>
            <a:off x="868680" y="3171189"/>
            <a:ext cx="10768279" cy="471170"/>
          </a:xfrm>
          <a:prstGeom prst="rect">
            <a:avLst/>
          </a:prstGeom>
          <a:noFill/>
          <a:ln/>
        </p:spPr>
        <p:txBody>
          <a:bodyPr wrap="square" lIns="0" tIns="0" rIns="0" bIns="0" rtlCol="0" anchor="t">
            <a:normAutofit/>
          </a:bodyPr>
          <a:lstStyle/>
          <a:p>
            <a:pPr marL="0" indent="0" algn="l">
              <a:lnSpc>
                <a:spcPts val="1755"/>
              </a:lnSpc>
              <a:buNone/>
            </a:pPr>
            <a:r>
              <a:rPr lang="en-US" sz="1300">
                <a:solidFill>
                  <a:srgbClr val="1A1A1A"/>
                </a:solidFill>
                <a:latin typeface="Public Sans" pitchFamily="34" charset="0"/>
                <a:ea typeface="Public Sans" pitchFamily="34" charset="-122"/>
                <a:cs typeface="Public Sans" pitchFamily="34" charset="-120"/>
              </a:rPr>
              <a:t>[5] H. F. Rahman, S. Alam, and M. I. H. Bhuiyan, “IoT based smart temperature controller for healthcare and industrial applications,” Proc. IEEE Region 10 Humanitarian Technology Conference (R10-HTC), Dhaka, Bangladesh, Dec. 2017, pp. 722–725.</a:t>
            </a:r>
            <a:endParaRPr lang="en-US" sz="1300"/>
          </a:p>
        </p:txBody>
      </p:sp>
      <p:sp>
        <p:nvSpPr>
          <p:cNvPr id="11" name="Text 8"/>
          <p:cNvSpPr/>
          <p:nvPr/>
        </p:nvSpPr>
        <p:spPr>
          <a:xfrm>
            <a:off x="868680" y="3743961"/>
            <a:ext cx="10768279" cy="248285"/>
          </a:xfrm>
          <a:prstGeom prst="rect">
            <a:avLst/>
          </a:prstGeom>
          <a:noFill/>
          <a:ln/>
        </p:spPr>
        <p:txBody>
          <a:bodyPr wrap="square" lIns="0" tIns="0" rIns="0" bIns="0" rtlCol="0" anchor="t">
            <a:normAutofit/>
          </a:bodyPr>
          <a:lstStyle/>
          <a:p>
            <a:pPr marL="0" indent="0" algn="l">
              <a:lnSpc>
                <a:spcPts val="1755"/>
              </a:lnSpc>
              <a:buNone/>
            </a:pPr>
            <a:r>
              <a:rPr lang="en-US" sz="1300">
                <a:solidFill>
                  <a:srgbClr val="1A1A1A"/>
                </a:solidFill>
                <a:latin typeface="Public Sans" pitchFamily="34" charset="0"/>
                <a:ea typeface="Public Sans" pitchFamily="34" charset="-122"/>
                <a:cs typeface="Public Sans" pitchFamily="34" charset="-120"/>
              </a:rPr>
              <a:t>[6] Market sizing sources: Markets and Markets; Grand View.</a:t>
            </a:r>
            <a:endParaRPr lang="en-US" sz="1300"/>
          </a:p>
        </p:txBody>
      </p:sp>
      <p:sp>
        <p:nvSpPr>
          <p:cNvPr id="12" name="Text 9"/>
          <p:cNvSpPr/>
          <p:nvPr/>
        </p:nvSpPr>
        <p:spPr>
          <a:xfrm>
            <a:off x="2171700" y="6339839"/>
            <a:ext cx="7848600" cy="238760"/>
          </a:xfrm>
          <a:prstGeom prst="rect">
            <a:avLst/>
          </a:prstGeom>
          <a:noFill/>
          <a:ln/>
        </p:spPr>
        <p:txBody>
          <a:bodyPr wrap="square" lIns="0" tIns="0" rIns="0" bIns="0" rtlCol="0" anchor="t">
            <a:normAutofit/>
          </a:bodyPr>
          <a:lstStyle/>
          <a:p>
            <a:pPr marL="0" indent="0" algn="ctr">
              <a:lnSpc>
                <a:spcPts val="1680"/>
              </a:lnSpc>
              <a:buNone/>
            </a:pPr>
            <a:r>
              <a:rPr lang="en-US" sz="1200">
                <a:solidFill>
                  <a:srgbClr val="1F3864"/>
                </a:solidFill>
                <a:latin typeface="Public Sans" pitchFamily="34" charset="0"/>
                <a:ea typeface="Public Sans" pitchFamily="34" charset="-122"/>
                <a:cs typeface="Public Sans" pitchFamily="34" charset="-120"/>
              </a:rPr>
              <a:t>@HSC submission- Template</a:t>
            </a:r>
            <a:endParaRPr lang="en-US" sz="1200"/>
          </a:p>
        </p:txBody>
      </p:sp>
      <p:sp>
        <p:nvSpPr>
          <p:cNvPr id="13" name="Text 10"/>
          <p:cNvSpPr/>
          <p:nvPr/>
        </p:nvSpPr>
        <p:spPr>
          <a:xfrm>
            <a:off x="11150600" y="6339839"/>
            <a:ext cx="431800" cy="238760"/>
          </a:xfrm>
          <a:prstGeom prst="rect">
            <a:avLst/>
          </a:prstGeom>
          <a:noFill/>
          <a:ln/>
        </p:spPr>
        <p:txBody>
          <a:bodyPr wrap="square" lIns="0" tIns="0" rIns="0" bIns="0" rtlCol="0" anchor="t">
            <a:normAutofit/>
          </a:bodyPr>
          <a:lstStyle/>
          <a:p>
            <a:pPr marL="0" indent="0" algn="r">
              <a:lnSpc>
                <a:spcPts val="1680"/>
              </a:lnSpc>
              <a:buNone/>
            </a:pPr>
            <a:r>
              <a:rPr lang="en-US" sz="1200">
                <a:solidFill>
                  <a:srgbClr val="6B7280"/>
                </a:solidFill>
                <a:latin typeface="Public Sans" pitchFamily="34" charset="0"/>
                <a:ea typeface="Public Sans" pitchFamily="34" charset="-122"/>
                <a:cs typeface="Public Sans" pitchFamily="34" charset="-120"/>
              </a:rPr>
              <a:t>7</a:t>
            </a:r>
            <a:endParaRPr lang="en-US" sz="1200"/>
          </a:p>
        </p:txBody>
      </p:sp>
    </p:spTree>
  </p:cSld>
  <p:clrMapOvr>
    <a:masterClrMapping/>
  </p:clrMapOvr>
</p:sld>
</file>

<file path=ppt/theme/theme1.xml><?xml version="1.0" encoding="utf-8"?>
<a:theme xmlns:a="http://schemas.openxmlformats.org/drawingml/2006/main" name="HSC Submission – IoT Incubator Temperature Controller">
  <a:themeElements>
    <a:clrScheme name="HSC Submission – IoT Incubator Temperature Controller">
      <a:dk1>
        <a:srgbClr val="1F497D"/>
      </a:dk1>
      <a:lt1>
        <a:srgbClr val="FDFDFC"/>
      </a:lt1>
      <a:dk2>
        <a:srgbClr val="57769D"/>
      </a:dk2>
      <a:lt2>
        <a:srgbClr val="E7EBEF"/>
      </a:lt2>
      <a:accent1>
        <a:srgbClr val="0070C0"/>
      </a:accent1>
      <a:accent2>
        <a:srgbClr val="B45309"/>
      </a:accent2>
      <a:accent3>
        <a:srgbClr val="1F3864"/>
      </a:accent3>
      <a:accent4>
        <a:srgbClr val="FFE3C7"/>
      </a:accent4>
      <a:accent5>
        <a:srgbClr val="F7B27A"/>
      </a:accent5>
      <a:accent6>
        <a:srgbClr val="FDE6CF"/>
      </a:accent6>
      <a:hlink>
        <a:srgbClr val="0563C1"/>
      </a:hlink>
      <a:folHlink>
        <a:srgbClr val="954F72"/>
      </a:folHlink>
    </a:clrScheme>
    <a:fontScheme name="HSC Submission – IoT Incubator Temperature Controller">
      <a:majorFont>
        <a:latin typeface="Public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ublic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7</Slides>
  <Notes>7</Notes>
  <HiddenSlides>0</HiddenSlide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HSC Submission – IoT Incubator Temperature Controller</vt:lpstr>
      <vt:lpstr>Cover Page</vt:lpstr>
      <vt:lpstr>Problem – Proposed Solution</vt:lpstr>
      <vt:lpstr>Technical Approach</vt:lpstr>
      <vt:lpstr>Impact Potential</vt:lpstr>
      <vt:lpstr>Feasibility and Risk Analysis</vt:lpstr>
      <vt:lpstr>Team</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HSC Submission – IoT Incubator Temperature Controller</dc:title>
  <dc:subject/>
  <dc:creator/>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Public Sans
Copyright 2015 The Public Sans Project Authors (https://github.com/uswds/public-sans)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cp:lastModifiedBy>shriranjanimuthuvenkadachalam@gmail.com</cp:lastModifiedBy>
  <cp:revision>1</cp:revision>
  <dcterms:created xsi:type="dcterms:W3CDTF">2026-10-26T08:47:14Z</dcterms:created>
  <dcterms:modified xsi:type="dcterms:W3CDTF">2026-10-26T08:58:43Z</dcterms:modified>
</cp:coreProperties>
</file>